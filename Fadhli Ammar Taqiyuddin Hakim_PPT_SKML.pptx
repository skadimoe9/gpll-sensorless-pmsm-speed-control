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05" r:id="rId3"/>
    <p:sldId id="276" r:id="rId4"/>
    <p:sldId id="303" r:id="rId5"/>
    <p:sldId id="306" r:id="rId6"/>
    <p:sldId id="307" r:id="rId7"/>
    <p:sldId id="292" r:id="rId8"/>
    <p:sldId id="294" r:id="rId9"/>
    <p:sldId id="297" r:id="rId10"/>
    <p:sldId id="298" r:id="rId11"/>
    <p:sldId id="302" r:id="rId12"/>
    <p:sldId id="300" r:id="rId13"/>
    <p:sldId id="301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F6"/>
    <a:srgbClr val="020B5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36" autoAdjust="0"/>
  </p:normalViewPr>
  <p:slideViewPr>
    <p:cSldViewPr snapToGrid="0">
      <p:cViewPr>
        <p:scale>
          <a:sx n="88" d="100"/>
          <a:sy n="88" d="100"/>
        </p:scale>
        <p:origin x="3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CD239-CAFF-479D-A806-B31364D6259F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59E44-21B0-4FF4-A69A-51470D2BDF1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7902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Sotsugyou</a:t>
            </a:r>
            <a:r>
              <a:rPr lang="en-ID" dirty="0"/>
              <a:t> </a:t>
            </a:r>
            <a:r>
              <a:rPr lang="en-ID" dirty="0" err="1"/>
              <a:t>kenkyuu</a:t>
            </a:r>
            <a:r>
              <a:rPr lang="en-ID" dirty="0"/>
              <a:t> </a:t>
            </a:r>
            <a:r>
              <a:rPr lang="en-ID" dirty="0" err="1"/>
              <a:t>wa</a:t>
            </a:r>
            <a:r>
              <a:rPr lang="en-ID" dirty="0"/>
              <a:t> </a:t>
            </a:r>
            <a:r>
              <a:rPr lang="en-ID" dirty="0" err="1"/>
              <a:t>sakunen</a:t>
            </a:r>
            <a:r>
              <a:rPr lang="en-ID" dirty="0"/>
              <a:t> </a:t>
            </a:r>
            <a:r>
              <a:rPr lang="en-ID" dirty="0" err="1"/>
              <a:t>juunigatsu</a:t>
            </a:r>
            <a:r>
              <a:rPr lang="en-ID" dirty="0"/>
              <a:t> kara </a:t>
            </a:r>
            <a:r>
              <a:rPr lang="en-ID" dirty="0" err="1"/>
              <a:t>kaishi</a:t>
            </a:r>
            <a:r>
              <a:rPr lang="en-ID" dirty="0"/>
              <a:t>, </a:t>
            </a:r>
            <a:r>
              <a:rPr lang="en-ID" dirty="0" err="1"/>
              <a:t>kotoshi</a:t>
            </a:r>
            <a:r>
              <a:rPr lang="en-ID" dirty="0"/>
              <a:t> no </a:t>
            </a:r>
            <a:r>
              <a:rPr lang="en-ID" dirty="0" err="1"/>
              <a:t>rokugatsu</a:t>
            </a:r>
            <a:r>
              <a:rPr lang="en-ID" dirty="0"/>
              <a:t> </a:t>
            </a:r>
            <a:r>
              <a:rPr lang="en-ID" dirty="0" err="1"/>
              <a:t>ni</a:t>
            </a:r>
            <a:r>
              <a:rPr lang="en-ID" dirty="0"/>
              <a:t> </a:t>
            </a:r>
            <a:r>
              <a:rPr lang="en-ID" dirty="0" err="1"/>
              <a:t>shuryou</a:t>
            </a:r>
            <a:r>
              <a:rPr lang="en-ID" dirty="0"/>
              <a:t> </a:t>
            </a:r>
            <a:r>
              <a:rPr lang="en-ID" dirty="0" err="1"/>
              <a:t>suru</a:t>
            </a:r>
            <a:r>
              <a:rPr lang="en-ID" dirty="0"/>
              <a:t> </a:t>
            </a:r>
            <a:r>
              <a:rPr lang="en-ID" dirty="0" err="1"/>
              <a:t>yoteidesu</a:t>
            </a:r>
            <a:r>
              <a:rPr lang="en-ID" dirty="0"/>
              <a:t>. </a:t>
            </a:r>
            <a:r>
              <a:rPr lang="en-ID" dirty="0" err="1"/>
              <a:t>Yotte</a:t>
            </a:r>
            <a:r>
              <a:rPr lang="en-ID" dirty="0"/>
              <a:t>, </a:t>
            </a:r>
            <a:r>
              <a:rPr lang="en-ID" dirty="0" err="1"/>
              <a:t>kikai</a:t>
            </a:r>
            <a:r>
              <a:rPr lang="en-ID" dirty="0"/>
              <a:t> </a:t>
            </a:r>
            <a:r>
              <a:rPr lang="en-ID" dirty="0" err="1"/>
              <a:t>sekkei</a:t>
            </a:r>
            <a:r>
              <a:rPr lang="en-ID"/>
              <a:t> no purojekuto</a:t>
            </a:r>
            <a:r>
              <a:rPr lang="en-ID" dirty="0"/>
              <a:t> wo </a:t>
            </a:r>
            <a:r>
              <a:rPr lang="en-ID" dirty="0" err="1"/>
              <a:t>setsumei</a:t>
            </a:r>
            <a:r>
              <a:rPr lang="en-ID" dirty="0"/>
              <a:t> </a:t>
            </a:r>
            <a:r>
              <a:rPr lang="en-ID" dirty="0" err="1"/>
              <a:t>shimasu</a:t>
            </a:r>
            <a:r>
              <a:rPr lang="en-ID" dirty="0"/>
              <a:t>.</a:t>
            </a: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51492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Kyonen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sankashita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purojektu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mazu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shoukai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shimasu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kaisha-muke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sekkei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Indoneshia</a:t>
            </a:r>
            <a:r>
              <a:rPr lang="en-ID" dirty="0">
                <a:effectLst/>
              </a:rPr>
              <a:t> de ha </a:t>
            </a: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ooiindesu</a:t>
            </a:r>
            <a:r>
              <a:rPr lang="en-ID" dirty="0">
                <a:effectLst/>
              </a:rPr>
              <a:t>, demo mono wo </a:t>
            </a:r>
            <a:r>
              <a:rPr lang="en-ID" dirty="0" err="1">
                <a:effectLst/>
              </a:rPr>
              <a:t>ugokasu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toki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janakkute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jibun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chikara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tsukatteimasu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kitsui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Mondai</a:t>
            </a:r>
            <a:r>
              <a:rPr lang="en-ID" dirty="0">
                <a:effectLst/>
              </a:rPr>
              <a:t> ha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takai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, kau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dekimasen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ha ii </a:t>
            </a:r>
            <a:r>
              <a:rPr lang="en-ID" dirty="0" err="1">
                <a:effectLst/>
              </a:rPr>
              <a:t>hinshitsu</a:t>
            </a:r>
            <a:r>
              <a:rPr lang="en-ID" dirty="0">
                <a:effectLst/>
              </a:rPr>
              <a:t>/ii </a:t>
            </a:r>
            <a:r>
              <a:rPr lang="en-ID" dirty="0" err="1">
                <a:effectLst/>
              </a:rPr>
              <a:t>kuoriti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yasui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tsukuru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endParaRPr lang="en-ID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00050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Kyonen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sankashita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purojektu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mazu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shoukai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shimasu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kaisha-muke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sekkei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Indoneshia</a:t>
            </a:r>
            <a:r>
              <a:rPr lang="en-ID" dirty="0">
                <a:effectLst/>
              </a:rPr>
              <a:t> de ha </a:t>
            </a: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ooiindesu</a:t>
            </a:r>
            <a:r>
              <a:rPr lang="en-ID" dirty="0">
                <a:effectLst/>
              </a:rPr>
              <a:t>, demo mono wo </a:t>
            </a:r>
            <a:r>
              <a:rPr lang="en-ID" dirty="0" err="1">
                <a:effectLst/>
              </a:rPr>
              <a:t>ugokasu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toki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janakkute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jibun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chikara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tsukatteimasu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kitsui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Mondai</a:t>
            </a:r>
            <a:r>
              <a:rPr lang="en-ID" dirty="0">
                <a:effectLst/>
              </a:rPr>
              <a:t> ha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takai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, kau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dekimasen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ha ii </a:t>
            </a:r>
            <a:r>
              <a:rPr lang="en-ID" dirty="0" err="1">
                <a:effectLst/>
              </a:rPr>
              <a:t>hinshitsu</a:t>
            </a:r>
            <a:r>
              <a:rPr lang="en-ID" dirty="0">
                <a:effectLst/>
              </a:rPr>
              <a:t>/ii </a:t>
            </a:r>
            <a:r>
              <a:rPr lang="en-ID" dirty="0" err="1">
                <a:effectLst/>
              </a:rPr>
              <a:t>kuoriti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yasui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tsukuru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endParaRPr lang="en-ID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22838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Kyonen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sankashita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purojektu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mazu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shoukai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shimasu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kaisha-muke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sekkei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Indoneshia</a:t>
            </a:r>
            <a:r>
              <a:rPr lang="en-ID" dirty="0">
                <a:effectLst/>
              </a:rPr>
              <a:t> de ha </a:t>
            </a: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ooiindesu</a:t>
            </a:r>
            <a:r>
              <a:rPr lang="en-ID" dirty="0">
                <a:effectLst/>
              </a:rPr>
              <a:t>, demo mono wo </a:t>
            </a:r>
            <a:r>
              <a:rPr lang="en-ID" dirty="0" err="1">
                <a:effectLst/>
              </a:rPr>
              <a:t>ugokasu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toki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janakkute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jibun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chikara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tsukatteimasu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kitsui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Mondai</a:t>
            </a:r>
            <a:r>
              <a:rPr lang="en-ID" dirty="0">
                <a:effectLst/>
              </a:rPr>
              <a:t> ha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takai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, kau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dekimasen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ha ii </a:t>
            </a:r>
            <a:r>
              <a:rPr lang="en-ID" dirty="0" err="1">
                <a:effectLst/>
              </a:rPr>
              <a:t>hinshitsu</a:t>
            </a:r>
            <a:r>
              <a:rPr lang="en-ID" dirty="0">
                <a:effectLst/>
              </a:rPr>
              <a:t>/ii </a:t>
            </a:r>
            <a:r>
              <a:rPr lang="en-ID" dirty="0" err="1">
                <a:effectLst/>
              </a:rPr>
              <a:t>kuoriti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yasui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tsukuru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endParaRPr lang="en-ID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08482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Kyonen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sankashita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purojektu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mazu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shoukai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shimasu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kaisha-muke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sekkei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Indoneshia</a:t>
            </a:r>
            <a:r>
              <a:rPr lang="en-ID" dirty="0">
                <a:effectLst/>
              </a:rPr>
              <a:t> de ha </a:t>
            </a: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ooiindesu</a:t>
            </a:r>
            <a:r>
              <a:rPr lang="en-ID" dirty="0">
                <a:effectLst/>
              </a:rPr>
              <a:t>, demo mono wo </a:t>
            </a:r>
            <a:r>
              <a:rPr lang="en-ID" dirty="0" err="1">
                <a:effectLst/>
              </a:rPr>
              <a:t>ugokasu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toki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janakkute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jibun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chikara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tsukatteimasu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kitsui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Mondai</a:t>
            </a:r>
            <a:r>
              <a:rPr lang="en-ID" dirty="0">
                <a:effectLst/>
              </a:rPr>
              <a:t> ha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takai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, kau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dekimasen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ha ii </a:t>
            </a:r>
            <a:r>
              <a:rPr lang="en-ID" dirty="0" err="1">
                <a:effectLst/>
              </a:rPr>
              <a:t>hinshitsu</a:t>
            </a:r>
            <a:r>
              <a:rPr lang="en-ID" dirty="0">
                <a:effectLst/>
              </a:rPr>
              <a:t>/ii </a:t>
            </a:r>
            <a:r>
              <a:rPr lang="en-ID" dirty="0" err="1">
                <a:effectLst/>
              </a:rPr>
              <a:t>kuoriti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yasui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tsukuru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endParaRPr lang="en-ID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09680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Kyonen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sankashita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purojektu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mazu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shoukai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shimasu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kaisha-muke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sekkei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purojekto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Indoneshia</a:t>
            </a:r>
            <a:r>
              <a:rPr lang="en-ID" dirty="0">
                <a:effectLst/>
              </a:rPr>
              <a:t> de ha </a:t>
            </a:r>
            <a:r>
              <a:rPr lang="en-ID" dirty="0" err="1">
                <a:effectLst/>
              </a:rPr>
              <a:t>chisai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kaisha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ooiindesu</a:t>
            </a:r>
            <a:r>
              <a:rPr lang="en-ID" dirty="0">
                <a:effectLst/>
              </a:rPr>
              <a:t>, demo mono wo </a:t>
            </a:r>
            <a:r>
              <a:rPr lang="en-ID" dirty="0" err="1">
                <a:effectLst/>
              </a:rPr>
              <a:t>ugokasu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toki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janakkute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jibun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chikara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tsukatteimasu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sugoku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kitsui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Mondai</a:t>
            </a:r>
            <a:r>
              <a:rPr lang="en-ID" dirty="0">
                <a:effectLst/>
              </a:rPr>
              <a:t> ha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beruto</a:t>
            </a:r>
            <a:r>
              <a:rPr lang="en-ID" dirty="0">
                <a:effectLst/>
              </a:rPr>
              <a:t> no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takai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r>
              <a:rPr lang="en-ID" dirty="0">
                <a:effectLst/>
              </a:rPr>
              <a:t>, kau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dekimasen</a:t>
            </a:r>
            <a:r>
              <a:rPr lang="en-ID" dirty="0">
                <a:effectLst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ha ii </a:t>
            </a:r>
            <a:r>
              <a:rPr lang="en-ID" dirty="0" err="1">
                <a:effectLst/>
              </a:rPr>
              <a:t>hinshitsu</a:t>
            </a:r>
            <a:r>
              <a:rPr lang="en-ID" dirty="0">
                <a:effectLst/>
              </a:rPr>
              <a:t>/ii </a:t>
            </a:r>
            <a:r>
              <a:rPr lang="en-ID" dirty="0" err="1">
                <a:effectLst/>
              </a:rPr>
              <a:t>kuoriti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yasui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nedan</a:t>
            </a:r>
            <a:r>
              <a:rPr lang="en-ID" dirty="0">
                <a:effectLst/>
              </a:rPr>
              <a:t> de </a:t>
            </a:r>
            <a:r>
              <a:rPr lang="en-ID" dirty="0" err="1">
                <a:effectLst/>
              </a:rPr>
              <a:t>konbeya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kikai</a:t>
            </a:r>
            <a:r>
              <a:rPr lang="en-ID" dirty="0">
                <a:effectLst/>
              </a:rPr>
              <a:t> wo </a:t>
            </a:r>
            <a:r>
              <a:rPr lang="en-ID" dirty="0" err="1">
                <a:effectLst/>
              </a:rPr>
              <a:t>tsukuru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koto</a:t>
            </a:r>
            <a:r>
              <a:rPr lang="en-ID" dirty="0">
                <a:effectLst/>
              </a:rPr>
              <a:t> ga </a:t>
            </a:r>
            <a:r>
              <a:rPr lang="en-ID" dirty="0" err="1">
                <a:effectLst/>
              </a:rPr>
              <a:t>mokuteki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desu</a:t>
            </a:r>
            <a:endParaRPr lang="en-ID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49531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50961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44510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1786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10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05295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11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1068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74705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13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37884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Houhou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Soriddowākususofutou~ea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berutokonbeyā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shisaku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-ki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shimashita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5F6368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Kosuto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osaeru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tame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erabimasu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Hansei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-ten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Konbeaberuto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sekkei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kōritsu-teki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 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zairyō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o,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yori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hinshitsunoii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ankana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mono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ni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henkō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Berutokonbea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kikai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ga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taerareru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saidai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jūryō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 o </a:t>
            </a:r>
            <a:r>
              <a:rPr lang="en-ID" b="0" i="0" dirty="0" err="1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fuyashimasu</a:t>
            </a:r>
            <a:r>
              <a:rPr lang="en-ID" b="0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59E44-21B0-4FF4-A69A-51470D2BDF1F}" type="slidenum">
              <a:rPr lang="id-ID" smtClean="0"/>
              <a:t>14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95349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63718-44C2-6068-ADB0-D870B9097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BDD58-205D-F12A-65CE-D553D7D02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4FCFB-9AD1-B3BC-F3CE-A413505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2728A-C61E-4A79-988E-A08F2829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A259D-295F-00C0-7A2C-753FCA85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1485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1CE1-3D52-94C2-8BBD-E814B882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5A338-A593-7292-45CC-B896DD599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4A838-4386-FCE7-117D-C527A97FD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A94F6-BEDA-813E-3783-BD69B82D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143A4-33B7-8272-BE4F-62532272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3907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5692-25AD-0999-E261-8E5D5BF7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84FEB-3610-183F-E147-987DD490C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EBCCA-C987-5743-E667-28BA8F2C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E342B-B1CB-2370-5E3C-53DE747D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0A55F-B79B-A213-7B9C-3EE0B8A5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5639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FC56-F3D9-C861-8F59-07736392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1CEC2-3A75-89EB-888E-6A8ED0D603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5F7AB-49D7-0861-BB43-8F47FAFAB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18DD4-ACDB-26C8-CDEC-0E9CE502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7FB4D-F947-D795-C67C-9DFBCFB5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EDE06-B004-209E-C64E-A95C3109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7194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8684-1B47-F885-3696-05D38045E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6ADE-B8F6-B16B-F650-B9D654DEC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BC7AB-8001-4418-042A-FB0BF1605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5BD391-B60C-2D79-CACA-0F400D7A6C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28AEA-D72B-1D46-E5A3-E208593C9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40ACA-5483-9B2D-773E-EDFA7212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15744-2E8A-75FD-89BC-26925098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0D2BB-953B-5170-D803-B1E4E80A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473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84E93-71A6-D8BB-512D-CE98502E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C2C561-C4DD-D681-3889-0C5FD076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0577FB-3DF5-71D6-A54B-B6E85C7B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D1F37-AF0A-2556-9A13-D2152152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9833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847BCE-D997-702D-519B-FB25FFC0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1FAAB8-DC9A-CDF6-1564-A4142041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DCF5F-FDE7-D52F-4EF7-5A7AC40F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4977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206B-960C-2C21-2678-7D89DDD2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64D4E-033A-A4D2-1CBE-41D23FD25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31323-3735-E973-378C-A2994BAEA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3A21F-1EE3-EDBE-BC20-E4321BA0C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3F892-09A9-120C-50C7-9954C2EF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03AD5-08F8-8000-D587-EB506B80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00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46C35-21DB-0F17-6A29-A9BAB548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19EC7-F074-A1CA-FAC6-7C5E778DF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69113-7E9D-1AB0-CED1-457D1B926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0F948-BB6F-E70B-285B-D0AA0E9E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9457B-C30A-1C40-B01B-F2F9F795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8A59F-E32D-C30C-F81F-1B7AE043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6582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9AD03-C736-11D1-B64E-6D0EEA87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50F74-1E23-060B-6099-725C41CF0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D2EDA-7A0C-15BA-1786-59F0CDC6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4043C-3C47-85A9-397E-5F68CAA4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93BD5-DA72-DD69-CFD8-FDA80CA6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7462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69491-90B5-2E7C-9BB2-A54A1C027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EB501-CB4A-66F4-3627-7A241CCC9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DCEAA-1D0D-030D-0481-0EB0D5DCD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F3D8A-9494-E605-BD77-004C2ECC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3E814-A961-0D6F-0C32-3410B20E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753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EC9539-8CC1-0FB0-1921-FAA8E337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C7FB7-969F-9002-C93A-B1CDC2F4D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70757-F404-DCE3-A5A0-2BBA6C353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9ED26-F1BD-41EB-8775-400DABCF36B2}" type="datetimeFigureOut">
              <a:rPr lang="id-ID" smtClean="0"/>
              <a:t>10/06/2025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2431C-E46C-B3AD-3E86-A59486EDF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88992-7A5D-F67B-67AE-4240902B2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94A75-4BC3-470C-BD24-366E05FDE7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4853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85;p30">
            <a:extLst>
              <a:ext uri="{FF2B5EF4-FFF2-40B4-BE49-F238E27FC236}">
                <a16:creationId xmlns:a16="http://schemas.microsoft.com/office/drawing/2014/main" id="{5973B738-D551-A93A-6C87-BC905029FCF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38065" y="4301756"/>
            <a:ext cx="8058837" cy="674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b="1" dirty="0">
                <a:latin typeface="Yu Gothic Light" panose="020B0300000000000000" pitchFamily="34" charset="-128"/>
                <a:ea typeface="Yu Gothic Light" panose="020B0300000000000000" pitchFamily="34" charset="-128"/>
                <a:cs typeface="Arial" panose="020B0604020202020204" pitchFamily="34" charset="0"/>
              </a:rPr>
              <a:t>Fadhli Ammar Taqiyuddin Hakim</a:t>
            </a:r>
            <a:endParaRPr sz="3000" b="1" dirty="0">
              <a:solidFill>
                <a:schemeClr val="accent1">
                  <a:lumMod val="75000"/>
                </a:schemeClr>
              </a:solidFill>
              <a:latin typeface="Yu Gothic Light" panose="020B0300000000000000" pitchFamily="34" charset="-128"/>
              <a:ea typeface="Yu Gothic Light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19" name="Google Shape;186;p30">
            <a:extLst>
              <a:ext uri="{FF2B5EF4-FFF2-40B4-BE49-F238E27FC236}">
                <a16:creationId xmlns:a16="http://schemas.microsoft.com/office/drawing/2014/main" id="{D0A21E8D-DC14-EB08-E8D1-507A1A7E3369}"/>
              </a:ext>
            </a:extLst>
          </p:cNvPr>
          <p:cNvSpPr txBox="1">
            <a:spLocks/>
          </p:cNvSpPr>
          <p:nvPr/>
        </p:nvSpPr>
        <p:spPr>
          <a:xfrm>
            <a:off x="1735269" y="4764785"/>
            <a:ext cx="5664430" cy="674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en-US" altLang="ja-JP" sz="3000" b="1" dirty="0" err="1">
                <a:solidFill>
                  <a:schemeClr val="tx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Sistem</a:t>
            </a:r>
            <a:r>
              <a:rPr lang="en-US" altLang="ja-JP" sz="3000" b="1" dirty="0">
                <a:solidFill>
                  <a:schemeClr val="tx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n-US" altLang="ja-JP" sz="3000" b="1" dirty="0" err="1">
                <a:solidFill>
                  <a:schemeClr val="tx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Kendali</a:t>
            </a:r>
            <a:r>
              <a:rPr lang="en-US" altLang="ja-JP" sz="3000" b="1" dirty="0">
                <a:solidFill>
                  <a:schemeClr val="tx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 Motor Listrik</a:t>
            </a:r>
            <a:endParaRPr lang="ja-JP" altLang="en-US" sz="3000" b="1" dirty="0">
              <a:solidFill>
                <a:schemeClr val="tx1"/>
              </a:solidFill>
              <a:effectLst/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18E42D-773E-558A-6EE7-A5BF96E95FD3}"/>
              </a:ext>
            </a:extLst>
          </p:cNvPr>
          <p:cNvSpPr/>
          <p:nvPr/>
        </p:nvSpPr>
        <p:spPr>
          <a:xfrm>
            <a:off x="9134966" y="-186613"/>
            <a:ext cx="3057034" cy="63105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DACBB5-89B7-46E0-ACFE-2DDA2E964A5B}"/>
              </a:ext>
            </a:extLst>
          </p:cNvPr>
          <p:cNvSpPr/>
          <p:nvPr/>
        </p:nvSpPr>
        <p:spPr>
          <a:xfrm>
            <a:off x="9134966" y="1749056"/>
            <a:ext cx="3057034" cy="4835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035C5D-3E19-4BD7-BAFE-91CB54CEB4AA}"/>
              </a:ext>
            </a:extLst>
          </p:cNvPr>
          <p:cNvSpPr/>
          <p:nvPr/>
        </p:nvSpPr>
        <p:spPr>
          <a:xfrm>
            <a:off x="9134966" y="3843670"/>
            <a:ext cx="3057034" cy="274059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EDB3FFFD-4901-D3BC-7F89-C48C30E61384}"/>
              </a:ext>
            </a:extLst>
          </p:cNvPr>
          <p:cNvSpPr/>
          <p:nvPr/>
        </p:nvSpPr>
        <p:spPr>
          <a:xfrm>
            <a:off x="0" y="6123916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559B85-9B54-48E5-B989-2D1A4268ADE8}"/>
              </a:ext>
            </a:extLst>
          </p:cNvPr>
          <p:cNvCxnSpPr/>
          <p:nvPr/>
        </p:nvCxnSpPr>
        <p:spPr>
          <a:xfrm>
            <a:off x="386231" y="2931925"/>
            <a:ext cx="836250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Google Shape;186;p30">
            <a:extLst>
              <a:ext uri="{FF2B5EF4-FFF2-40B4-BE49-F238E27FC236}">
                <a16:creationId xmlns:a16="http://schemas.microsoft.com/office/drawing/2014/main" id="{3796B7E4-5C8A-4654-A925-E500CB6B926C}"/>
              </a:ext>
            </a:extLst>
          </p:cNvPr>
          <p:cNvSpPr txBox="1">
            <a:spLocks/>
          </p:cNvSpPr>
          <p:nvPr/>
        </p:nvSpPr>
        <p:spPr>
          <a:xfrm>
            <a:off x="483927" y="1341331"/>
            <a:ext cx="8167112" cy="144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/>
            <a:r>
              <a:rPr lang="en-US" altLang="ja-JP" sz="2500" b="1" dirty="0">
                <a:solidFill>
                  <a:schemeClr val="tx1"/>
                </a:solidFill>
                <a:latin typeface="Yu Gothic Light" panose="020B0300000000000000" pitchFamily="34" charset="-128"/>
                <a:ea typeface="Yu Gothic Light" panose="020B0300000000000000" pitchFamily="34" charset="-128"/>
              </a:rPr>
              <a:t>SIMULASI SENSORLESS SPEED CONTROL PADA PMSM MENGGUNAKAN GENERAL PHASE-LOCKED LOOP (GPLL) BERBASIS BACK ELECTROMOTIVE FORCE</a:t>
            </a:r>
            <a:endParaRPr lang="ja-JP" altLang="en-US" sz="2500" b="1" dirty="0">
              <a:solidFill>
                <a:schemeClr val="tx1"/>
              </a:solidFill>
              <a:effectLst/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04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800EEE61-4A5C-EF0C-F049-28552A341312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965736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TUJUAN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503807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" name="Google Shape;109;p15">
            <a:extLst>
              <a:ext uri="{FF2B5EF4-FFF2-40B4-BE49-F238E27FC236}">
                <a16:creationId xmlns:a16="http://schemas.microsoft.com/office/drawing/2014/main" id="{2A5041FF-E3BB-AEE3-65DC-B52EB313B667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9;p15">
            <a:extLst>
              <a:ext uri="{FF2B5EF4-FFF2-40B4-BE49-F238E27FC236}">
                <a16:creationId xmlns:a16="http://schemas.microsoft.com/office/drawing/2014/main" id="{EDEDF6F7-DDDF-9607-CEF2-C3DCEED3DCC9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10;p15">
            <a:extLst>
              <a:ext uri="{FF2B5EF4-FFF2-40B4-BE49-F238E27FC236}">
                <a16:creationId xmlns:a16="http://schemas.microsoft.com/office/drawing/2014/main" id="{597491E4-954B-6FE4-EA6C-E6FF2322821D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A7EFA-91FB-466C-A9FE-CD0567026504}"/>
              </a:ext>
            </a:extLst>
          </p:cNvPr>
          <p:cNvSpPr txBox="1"/>
          <p:nvPr/>
        </p:nvSpPr>
        <p:spPr>
          <a:xfrm>
            <a:off x="435893" y="1653035"/>
            <a:ext cx="8223693" cy="212006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Menganalisis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kinerja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estimasi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kecepatan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rotor pada PMSM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menggunakan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General Phase-Locked Loop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(GPLL) pada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simulasi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Membandingkan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kinerja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sistem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kontrol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sensor-based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dan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sensorless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pada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simulasi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untuk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pengaturan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kecepatan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PMSM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dengan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menggunakan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GPLL.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Menganalisis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kinerja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Observer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BEMF pada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simulasi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sistem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kontrol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motor PMSM.</a:t>
            </a:r>
          </a:p>
        </p:txBody>
      </p:sp>
    </p:spTree>
    <p:extLst>
      <p:ext uri="{BB962C8B-B14F-4D97-AF65-F5344CB8AC3E}">
        <p14:creationId xmlns:p14="http://schemas.microsoft.com/office/powerpoint/2010/main" val="37770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800EEE61-4A5C-EF0C-F049-28552A341312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965736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PAPER REFERENSI DAN BLOCK DIAGRAM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503807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" name="Google Shape;109;p15">
            <a:extLst>
              <a:ext uri="{FF2B5EF4-FFF2-40B4-BE49-F238E27FC236}">
                <a16:creationId xmlns:a16="http://schemas.microsoft.com/office/drawing/2014/main" id="{2A5041FF-E3BB-AEE3-65DC-B52EB313B667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9;p15">
            <a:extLst>
              <a:ext uri="{FF2B5EF4-FFF2-40B4-BE49-F238E27FC236}">
                <a16:creationId xmlns:a16="http://schemas.microsoft.com/office/drawing/2014/main" id="{EDEDF6F7-DDDF-9607-CEF2-C3DCEED3DCC9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10;p15">
            <a:extLst>
              <a:ext uri="{FF2B5EF4-FFF2-40B4-BE49-F238E27FC236}">
                <a16:creationId xmlns:a16="http://schemas.microsoft.com/office/drawing/2014/main" id="{597491E4-954B-6FE4-EA6C-E6FF2322821D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A7EFA-91FB-466C-A9FE-CD0567026504}"/>
              </a:ext>
            </a:extLst>
          </p:cNvPr>
          <p:cNvSpPr txBox="1"/>
          <p:nvPr/>
        </p:nvSpPr>
        <p:spPr>
          <a:xfrm>
            <a:off x="435893" y="1653035"/>
            <a:ext cx="5230121" cy="64633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Söhne"/>
                <a:ea typeface="游ゴシック"/>
              </a:rPr>
              <a:t>A General Phase-Locked Loop to Enhance </a:t>
            </a:r>
            <a:r>
              <a:rPr lang="en-US" altLang="ja-JP" dirty="0" err="1">
                <a:latin typeface="Söhne"/>
                <a:ea typeface="游ゴシック"/>
              </a:rPr>
              <a:t>Sensorless</a:t>
            </a:r>
            <a:r>
              <a:rPr lang="en-US" altLang="ja-JP" dirty="0">
                <a:latin typeface="Söhne"/>
                <a:ea typeface="游ゴシック"/>
              </a:rPr>
              <a:t> Control of PMSM Based on Back Electromotive Force</a:t>
            </a:r>
            <a:endParaRPr lang="en-ID" altLang="ja-JP" dirty="0">
              <a:latin typeface="Söh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8281DE-9103-4DD8-A783-DBABDB1D1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485" y="2530198"/>
            <a:ext cx="3862416" cy="36290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29CC14-15A0-489A-AC9F-793001AC0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174" y="1633116"/>
            <a:ext cx="4311781" cy="22517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FEA554-4AD2-4451-8CC1-D4A90F3A4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806" y="4417894"/>
            <a:ext cx="3818515" cy="14643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3FECCE-EEB5-4590-A1E8-1066F949594D}"/>
              </a:ext>
            </a:extLst>
          </p:cNvPr>
          <p:cNvSpPr txBox="1"/>
          <p:nvPr/>
        </p:nvSpPr>
        <p:spPr>
          <a:xfrm>
            <a:off x="8053529" y="5882251"/>
            <a:ext cx="1391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+mj-ea"/>
                <a:ea typeface="+mj-ea"/>
              </a:rPr>
              <a:t>SISTEM GPLL</a:t>
            </a:r>
            <a:endParaRPr lang="en-ID" altLang="ja-JP" sz="1200" dirty="0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6D9F4D-3CD8-453A-A717-5027E81E4B43}"/>
              </a:ext>
            </a:extLst>
          </p:cNvPr>
          <p:cNvSpPr txBox="1"/>
          <p:nvPr/>
        </p:nvSpPr>
        <p:spPr>
          <a:xfrm>
            <a:off x="7206056" y="3956485"/>
            <a:ext cx="3086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+mj-ea"/>
                <a:ea typeface="+mj-ea"/>
              </a:rPr>
              <a:t>SENSORLESS CONTROL DIAGRAM</a:t>
            </a:r>
            <a:endParaRPr lang="en-ID" altLang="ja-JP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1598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800EEE61-4A5C-EF0C-F049-28552A341312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965736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PROPOSED GPLL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503807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" name="Google Shape;109;p15">
            <a:extLst>
              <a:ext uri="{FF2B5EF4-FFF2-40B4-BE49-F238E27FC236}">
                <a16:creationId xmlns:a16="http://schemas.microsoft.com/office/drawing/2014/main" id="{2A5041FF-E3BB-AEE3-65DC-B52EB313B667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9;p15">
            <a:extLst>
              <a:ext uri="{FF2B5EF4-FFF2-40B4-BE49-F238E27FC236}">
                <a16:creationId xmlns:a16="http://schemas.microsoft.com/office/drawing/2014/main" id="{EDEDF6F7-DDDF-9607-CEF2-C3DCEED3DCC9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10;p15">
            <a:extLst>
              <a:ext uri="{FF2B5EF4-FFF2-40B4-BE49-F238E27FC236}">
                <a16:creationId xmlns:a16="http://schemas.microsoft.com/office/drawing/2014/main" id="{597491E4-954B-6FE4-EA6C-E6FF2322821D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206BA2A-125F-4A3D-8000-C2677E2F9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72" y="1665953"/>
            <a:ext cx="4043633" cy="9110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229F568-02C9-4FAD-BE1C-72EF2F5FD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13" y="2691711"/>
            <a:ext cx="6048883" cy="9110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F9BE7A-4336-42D7-9B81-8B8B03EA3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503" y="1868860"/>
            <a:ext cx="5487584" cy="21044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FFD850-7391-41D3-A44B-3B10B9387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308" y="3780574"/>
            <a:ext cx="5169273" cy="4625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2394D0-8FDE-489F-ABE3-6E0A27075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536" y="4313474"/>
            <a:ext cx="3331678" cy="622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1856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800EEE61-4A5C-EF0C-F049-28552A341312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965736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SMO FOR BEMF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503807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" name="Google Shape;109;p15">
            <a:extLst>
              <a:ext uri="{FF2B5EF4-FFF2-40B4-BE49-F238E27FC236}">
                <a16:creationId xmlns:a16="http://schemas.microsoft.com/office/drawing/2014/main" id="{2A5041FF-E3BB-AEE3-65DC-B52EB313B667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9;p15">
            <a:extLst>
              <a:ext uri="{FF2B5EF4-FFF2-40B4-BE49-F238E27FC236}">
                <a16:creationId xmlns:a16="http://schemas.microsoft.com/office/drawing/2014/main" id="{EDEDF6F7-DDDF-9607-CEF2-C3DCEED3DCC9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10;p15">
            <a:extLst>
              <a:ext uri="{FF2B5EF4-FFF2-40B4-BE49-F238E27FC236}">
                <a16:creationId xmlns:a16="http://schemas.microsoft.com/office/drawing/2014/main" id="{597491E4-954B-6FE4-EA6C-E6FF2322821D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D3AFCD-C66F-4BA2-98D1-AE30795EC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36" y="1709465"/>
            <a:ext cx="4580264" cy="734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7EA156-BD6B-4F7E-A0BB-39769E21C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37" y="2443548"/>
            <a:ext cx="5433908" cy="32337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E603CC-17B8-4E59-A663-4C2FC33B3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904" y="3094648"/>
            <a:ext cx="2420464" cy="87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10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800EEE61-4A5C-EF0C-F049-28552A341312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965736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SMO FOR BEMF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503807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" name="Google Shape;109;p15">
            <a:extLst>
              <a:ext uri="{FF2B5EF4-FFF2-40B4-BE49-F238E27FC236}">
                <a16:creationId xmlns:a16="http://schemas.microsoft.com/office/drawing/2014/main" id="{2A5041FF-E3BB-AEE3-65DC-B52EB313B667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9;p15">
            <a:extLst>
              <a:ext uri="{FF2B5EF4-FFF2-40B4-BE49-F238E27FC236}">
                <a16:creationId xmlns:a16="http://schemas.microsoft.com/office/drawing/2014/main" id="{EDEDF6F7-DDDF-9607-CEF2-C3DCEED3DCC9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10;p15">
            <a:extLst>
              <a:ext uri="{FF2B5EF4-FFF2-40B4-BE49-F238E27FC236}">
                <a16:creationId xmlns:a16="http://schemas.microsoft.com/office/drawing/2014/main" id="{597491E4-954B-6FE4-EA6C-E6FF2322821D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D3AFCD-C66F-4BA2-98D1-AE30795EC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36" y="1709465"/>
            <a:ext cx="4580264" cy="734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7EA156-BD6B-4F7E-A0BB-39769E21C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37" y="2443548"/>
            <a:ext cx="5433908" cy="32337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FE603CC-17B8-4E59-A663-4C2FC33B3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904" y="3094648"/>
            <a:ext cx="2420464" cy="87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9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020A543-C709-415A-AE45-39DF1DBBDB6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730891" y="1228175"/>
            <a:ext cx="8207766" cy="5197429"/>
          </a:xfrm>
          <a:prstGeom prst="rect">
            <a:avLst/>
          </a:prstGeom>
        </p:spPr>
      </p:pic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dirty="0">
                <a:latin typeface="Montserrat" panose="02000505000000020004" pitchFamily="2" charset="0"/>
              </a:rPr>
              <a:t>【RANGKAIAN SISTEM】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7100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030D464-AC0F-454D-AB70-1F6B787C649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64209" y="1135842"/>
            <a:ext cx="4962052" cy="39610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76F807D-2D9F-455E-A258-8E50DA75FD7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449382" y="1135862"/>
            <a:ext cx="5153508" cy="3961047"/>
          </a:xfrm>
          <a:prstGeom prst="rect">
            <a:avLst/>
          </a:prstGeom>
        </p:spPr>
      </p:pic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SENSOR-BASED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50C3FD-DFF3-42D8-BA82-1A10FF20CD8F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6783455" y="1665344"/>
            <a:ext cx="1206659" cy="38427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93840C-ABC6-4B83-8F38-47E1F681DCAA}"/>
              </a:ext>
            </a:extLst>
          </p:cNvPr>
          <p:cNvSpPr txBox="1"/>
          <p:nvPr/>
        </p:nvSpPr>
        <p:spPr>
          <a:xfrm>
            <a:off x="5346541" y="5277215"/>
            <a:ext cx="1436914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Yu Gothic (body)"/>
              </a:rPr>
              <a:t>KECEPATAN AKTUAL</a:t>
            </a:r>
            <a:endParaRPr lang="en-US" sz="1200" dirty="0">
              <a:latin typeface="Yu Gothic (body)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B784D0-22FE-44B1-A1EA-DC3CF419678E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1621971" y="2879271"/>
            <a:ext cx="3724570" cy="26287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7194ED0-9623-46F7-98A4-21D2316E191B}"/>
              </a:ext>
            </a:extLst>
          </p:cNvPr>
          <p:cNvSpPr txBox="1"/>
          <p:nvPr/>
        </p:nvSpPr>
        <p:spPr>
          <a:xfrm>
            <a:off x="4984003" y="4454938"/>
            <a:ext cx="1861457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Yu Gothic (body)"/>
              </a:rPr>
              <a:t>KECEPATAN ESTIMASI GPLL</a:t>
            </a:r>
            <a:endParaRPr lang="en-US" sz="1200" dirty="0">
              <a:latin typeface="Yu Gothic (body)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DFFF23-5E3B-4C00-BBDC-5F56AFBCFBBB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2579914" y="2879271"/>
            <a:ext cx="3334818" cy="15756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2A1C3D2-70BB-49E8-A07F-57CE894FE264}"/>
              </a:ext>
            </a:extLst>
          </p:cNvPr>
          <p:cNvSpPr txBox="1"/>
          <p:nvPr/>
        </p:nvSpPr>
        <p:spPr>
          <a:xfrm>
            <a:off x="717484" y="5233351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Actual vs Estimated Speed</a:t>
            </a:r>
            <a:endParaRPr lang="en-ID" altLang="ja-JP" dirty="0">
              <a:latin typeface="Söhne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57449D-E211-47D8-8A16-9F5EEDC7BBA2}"/>
              </a:ext>
            </a:extLst>
          </p:cNvPr>
          <p:cNvSpPr txBox="1"/>
          <p:nvPr/>
        </p:nvSpPr>
        <p:spPr>
          <a:xfrm>
            <a:off x="8902583" y="5233351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PMSM Output</a:t>
            </a:r>
            <a:endParaRPr lang="en-ID" altLang="ja-JP" dirty="0"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141208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SENSOR-BASED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CBEB4B-722E-4E56-83F9-57A76B82FC56}"/>
              </a:ext>
            </a:extLst>
          </p:cNvPr>
          <p:cNvSpPr txBox="1"/>
          <p:nvPr/>
        </p:nvSpPr>
        <p:spPr>
          <a:xfrm>
            <a:off x="505536" y="1330640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Speed Control</a:t>
            </a:r>
            <a:endParaRPr lang="en-ID" altLang="ja-JP" dirty="0">
              <a:latin typeface="Söhne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5528CB-0990-441F-A60D-F0A7D21E8A1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5537" y="1814150"/>
            <a:ext cx="5628564" cy="39724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DA50F35-77AC-475A-BB2D-FA1DA9D31E6D}"/>
              </a:ext>
            </a:extLst>
          </p:cNvPr>
          <p:cNvSpPr txBox="1"/>
          <p:nvPr/>
        </p:nvSpPr>
        <p:spPr>
          <a:xfrm>
            <a:off x="6285852" y="1324614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Current Control</a:t>
            </a:r>
            <a:endParaRPr lang="en-ID" altLang="ja-JP" dirty="0">
              <a:latin typeface="Söhne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5656BD-2509-4079-B78C-F55AEB5E4FA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233308" y="1803047"/>
            <a:ext cx="5697436" cy="397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7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SENSOR-BASED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CBEB4B-722E-4E56-83F9-57A76B82FC56}"/>
              </a:ext>
            </a:extLst>
          </p:cNvPr>
          <p:cNvSpPr txBox="1"/>
          <p:nvPr/>
        </p:nvSpPr>
        <p:spPr>
          <a:xfrm>
            <a:off x="505536" y="1330640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 err="1">
                <a:latin typeface="Söhne"/>
                <a:ea typeface="游ゴシック"/>
              </a:rPr>
              <a:t>Arus</a:t>
            </a:r>
            <a:r>
              <a:rPr lang="en-US" altLang="ja-JP" dirty="0">
                <a:latin typeface="Söhne"/>
                <a:ea typeface="游ゴシック"/>
              </a:rPr>
              <a:t> PMSM</a:t>
            </a:r>
            <a:endParaRPr lang="en-ID" altLang="ja-JP" dirty="0">
              <a:latin typeface="Söhn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A50F35-77AC-475A-BB2D-FA1DA9D31E6D}"/>
              </a:ext>
            </a:extLst>
          </p:cNvPr>
          <p:cNvSpPr txBox="1"/>
          <p:nvPr/>
        </p:nvSpPr>
        <p:spPr>
          <a:xfrm>
            <a:off x="6608231" y="1330640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BEMF Output</a:t>
            </a:r>
            <a:endParaRPr lang="en-ID" altLang="ja-JP" dirty="0">
              <a:latin typeface="Söhne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5B94EB-3EA5-4305-9F76-9498BF71B21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5535" y="1803047"/>
            <a:ext cx="5111493" cy="39724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2E1305D-9C1D-4F6A-81DE-BCF2D69FD0F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574974" y="1803047"/>
            <a:ext cx="5192483" cy="393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6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475F2C2-5E6E-4785-A75F-0A3D7A3C877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5536" y="1144272"/>
            <a:ext cx="5109498" cy="39506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215144-F93D-449B-91AC-96BBB357588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989944" y="1139058"/>
            <a:ext cx="5612946" cy="3961067"/>
          </a:xfrm>
          <a:prstGeom prst="rect">
            <a:avLst/>
          </a:prstGeom>
        </p:spPr>
      </p:pic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SENSORLESS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50C3FD-DFF3-42D8-BA82-1A10FF20CD8F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6783455" y="2041071"/>
            <a:ext cx="934516" cy="3466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93840C-ABC6-4B83-8F38-47E1F681DCAA}"/>
              </a:ext>
            </a:extLst>
          </p:cNvPr>
          <p:cNvSpPr txBox="1"/>
          <p:nvPr/>
        </p:nvSpPr>
        <p:spPr>
          <a:xfrm>
            <a:off x="5346541" y="5277215"/>
            <a:ext cx="1436914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Yu Gothic (body)"/>
              </a:rPr>
              <a:t>KECEPATAN AKTUAL</a:t>
            </a:r>
            <a:endParaRPr lang="en-US" sz="1200" dirty="0">
              <a:latin typeface="Yu Gothic (body)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B784D0-22FE-44B1-A1EA-DC3CF419678E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1567543" y="3096986"/>
            <a:ext cx="3778998" cy="24110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7194ED0-9623-46F7-98A4-21D2316E191B}"/>
              </a:ext>
            </a:extLst>
          </p:cNvPr>
          <p:cNvSpPr txBox="1"/>
          <p:nvPr/>
        </p:nvSpPr>
        <p:spPr>
          <a:xfrm>
            <a:off x="4984003" y="4454938"/>
            <a:ext cx="1861457" cy="46166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Yu Gothic (body)"/>
              </a:rPr>
              <a:t>KECEPATAN ESTIMASI GPLL</a:t>
            </a:r>
            <a:endParaRPr lang="en-US" sz="1200" dirty="0">
              <a:latin typeface="Yu Gothic (body)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DFFF23-5E3B-4C00-BBDC-5F56AFBCFBBB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3363686" y="3701143"/>
            <a:ext cx="2551046" cy="7537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2A1C3D2-70BB-49E8-A07F-57CE894FE264}"/>
              </a:ext>
            </a:extLst>
          </p:cNvPr>
          <p:cNvSpPr txBox="1"/>
          <p:nvPr/>
        </p:nvSpPr>
        <p:spPr>
          <a:xfrm>
            <a:off x="717484" y="5233351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Actual vs Estimated Speed</a:t>
            </a:r>
            <a:endParaRPr lang="en-ID" altLang="ja-JP" dirty="0">
              <a:latin typeface="Söhne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57449D-E211-47D8-8A16-9F5EEDC7BBA2}"/>
              </a:ext>
            </a:extLst>
          </p:cNvPr>
          <p:cNvSpPr txBox="1"/>
          <p:nvPr/>
        </p:nvSpPr>
        <p:spPr>
          <a:xfrm>
            <a:off x="8902583" y="5233351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PMSM Output</a:t>
            </a:r>
            <a:endParaRPr lang="en-ID" altLang="ja-JP" dirty="0"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276367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SENSORLESS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CBEB4B-722E-4E56-83F9-57A76B82FC56}"/>
              </a:ext>
            </a:extLst>
          </p:cNvPr>
          <p:cNvSpPr txBox="1"/>
          <p:nvPr/>
        </p:nvSpPr>
        <p:spPr>
          <a:xfrm>
            <a:off x="505536" y="1330640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Speed Control</a:t>
            </a:r>
            <a:endParaRPr lang="en-ID" altLang="ja-JP" dirty="0">
              <a:latin typeface="Söhn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A50F35-77AC-475A-BB2D-FA1DA9D31E6D}"/>
              </a:ext>
            </a:extLst>
          </p:cNvPr>
          <p:cNvSpPr txBox="1"/>
          <p:nvPr/>
        </p:nvSpPr>
        <p:spPr>
          <a:xfrm>
            <a:off x="6096000" y="1332441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Current Control</a:t>
            </a:r>
            <a:endParaRPr lang="en-ID" altLang="ja-JP" dirty="0">
              <a:latin typeface="Söhne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37EDE7-60EE-4944-B845-D38677F2D4C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5535" y="1803047"/>
            <a:ext cx="5280221" cy="39724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F8ED35-9A8A-4010-9690-766C1C0EC9E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52521" y="1803046"/>
            <a:ext cx="5633944" cy="397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913" y="533309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【</a:t>
            </a:r>
            <a:r>
              <a:rPr lang="en-US" altLang="ja-JP" sz="2800" dirty="0">
                <a:latin typeface="Montserrat" panose="02000505000000020004" pitchFamily="2" charset="0"/>
              </a:rPr>
              <a:t>SENSORLESS</a:t>
            </a:r>
            <a:r>
              <a:rPr lang="en-US" altLang="ja-JP" sz="2800" b="1" dirty="0">
                <a:latin typeface="Montserrat" panose="02000505000000020004" pitchFamily="2" charset="0"/>
              </a:rPr>
              <a:t>】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cxnSp>
        <p:nvCxnSpPr>
          <p:cNvPr id="13" name="Google Shape;116;p15">
            <a:extLst>
              <a:ext uri="{FF2B5EF4-FFF2-40B4-BE49-F238E27FC236}">
                <a16:creationId xmlns:a16="http://schemas.microsoft.com/office/drawing/2014/main" id="{61F9D070-DFBF-2BCD-A5C8-C0140E41A0B0}"/>
              </a:ext>
            </a:extLst>
          </p:cNvPr>
          <p:cNvCxnSpPr>
            <a:cxnSpLocks/>
          </p:cNvCxnSpPr>
          <p:nvPr/>
        </p:nvCxnSpPr>
        <p:spPr>
          <a:xfrm>
            <a:off x="505536" y="1071380"/>
            <a:ext cx="11213713" cy="0"/>
          </a:xfrm>
          <a:prstGeom prst="straightConnector1">
            <a:avLst/>
          </a:prstGeom>
          <a:noFill/>
          <a:ln w="9525" cap="flat" cmpd="sng">
            <a:solidFill>
              <a:srgbClr val="38664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CBEB4B-722E-4E56-83F9-57A76B82FC56}"/>
              </a:ext>
            </a:extLst>
          </p:cNvPr>
          <p:cNvSpPr txBox="1"/>
          <p:nvPr/>
        </p:nvSpPr>
        <p:spPr>
          <a:xfrm>
            <a:off x="505536" y="1330640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 err="1">
                <a:latin typeface="Söhne"/>
                <a:ea typeface="游ゴシック"/>
              </a:rPr>
              <a:t>Arus</a:t>
            </a:r>
            <a:r>
              <a:rPr lang="en-US" altLang="ja-JP" dirty="0">
                <a:latin typeface="Söhne"/>
                <a:ea typeface="游ゴシック"/>
              </a:rPr>
              <a:t> PMSM</a:t>
            </a:r>
            <a:endParaRPr lang="en-ID" altLang="ja-JP" dirty="0">
              <a:latin typeface="Söhn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A50F35-77AC-475A-BB2D-FA1DA9D31E6D}"/>
              </a:ext>
            </a:extLst>
          </p:cNvPr>
          <p:cNvSpPr txBox="1"/>
          <p:nvPr/>
        </p:nvSpPr>
        <p:spPr>
          <a:xfrm>
            <a:off x="6608231" y="1330640"/>
            <a:ext cx="2700307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Söhne"/>
                <a:ea typeface="游ゴシック"/>
              </a:rPr>
              <a:t>BEMF Output</a:t>
            </a:r>
            <a:endParaRPr lang="en-ID" altLang="ja-JP" dirty="0">
              <a:latin typeface="Söhne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B41E69-548F-4124-A50E-64456C74D3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05535" y="1803047"/>
            <a:ext cx="5383635" cy="39337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A9B8C4-F551-4239-92DC-5954CCE7E1C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145048" y="1781464"/>
            <a:ext cx="5464566" cy="395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227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07;p15">
            <a:extLst>
              <a:ext uri="{FF2B5EF4-FFF2-40B4-BE49-F238E27FC236}">
                <a16:creationId xmlns:a16="http://schemas.microsoft.com/office/drawing/2014/main" id="{176550CD-B131-48E7-940D-3EB6BE391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3012" y="3142650"/>
            <a:ext cx="924597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ja-JP" sz="2800" b="1" dirty="0">
                <a:latin typeface="Montserrat" panose="02000505000000020004" pitchFamily="2" charset="0"/>
              </a:rPr>
              <a:t>TERIMA KASIH</a:t>
            </a:r>
            <a:endParaRPr lang="ja-JP" altLang="en-US" sz="2800" dirty="0">
              <a:latin typeface="Montserrat" panose="02000505000000020004" pitchFamily="2" charset="0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0AAFD33D-4D4B-4050-8831-2AB1D2FE2CA1}"/>
              </a:ext>
            </a:extLst>
          </p:cNvPr>
          <p:cNvSpPr/>
          <p:nvPr/>
        </p:nvSpPr>
        <p:spPr>
          <a:xfrm>
            <a:off x="0" y="6582398"/>
            <a:ext cx="12192000" cy="734084"/>
          </a:xfrm>
          <a:custGeom>
            <a:avLst/>
            <a:gdLst/>
            <a:ahLst/>
            <a:cxnLst/>
            <a:rect l="l" t="t" r="r" b="b"/>
            <a:pathLst>
              <a:path w="18288000" h="1252854">
                <a:moveTo>
                  <a:pt x="18287999" y="1252478"/>
                </a:moveTo>
                <a:lnTo>
                  <a:pt x="0" y="125247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25247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Google Shape;109;p15">
            <a:extLst>
              <a:ext uri="{FF2B5EF4-FFF2-40B4-BE49-F238E27FC236}">
                <a16:creationId xmlns:a16="http://schemas.microsoft.com/office/drawing/2014/main" id="{9050098F-4BFB-4619-BD66-EFCCE4185104}"/>
              </a:ext>
            </a:extLst>
          </p:cNvPr>
          <p:cNvSpPr/>
          <p:nvPr/>
        </p:nvSpPr>
        <p:spPr>
          <a:xfrm>
            <a:off x="4800901" y="1273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09;p15">
            <a:extLst>
              <a:ext uri="{FF2B5EF4-FFF2-40B4-BE49-F238E27FC236}">
                <a16:creationId xmlns:a16="http://schemas.microsoft.com/office/drawing/2014/main" id="{8C252675-07C0-468D-A56B-D8E9762424AD}"/>
              </a:ext>
            </a:extLst>
          </p:cNvPr>
          <p:cNvSpPr/>
          <p:nvPr/>
        </p:nvSpPr>
        <p:spPr>
          <a:xfrm>
            <a:off x="7195921" y="0"/>
            <a:ext cx="4225235" cy="477417"/>
          </a:xfrm>
          <a:prstGeom prst="trapezoid">
            <a:avLst>
              <a:gd name="adj" fmla="val 6944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10;p15">
            <a:extLst>
              <a:ext uri="{FF2B5EF4-FFF2-40B4-BE49-F238E27FC236}">
                <a16:creationId xmlns:a16="http://schemas.microsoft.com/office/drawing/2014/main" id="{FADC7D14-EA1B-46DE-8D0F-457AE6DE41FB}"/>
              </a:ext>
            </a:extLst>
          </p:cNvPr>
          <p:cNvSpPr/>
          <p:nvPr/>
        </p:nvSpPr>
        <p:spPr>
          <a:xfrm>
            <a:off x="9590939" y="0"/>
            <a:ext cx="3927566" cy="477417"/>
          </a:xfrm>
          <a:prstGeom prst="trapezoid">
            <a:avLst>
              <a:gd name="adj" fmla="val 69449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691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4834</TotalTime>
  <Words>1094</Words>
  <Application>Microsoft Office PowerPoint</Application>
  <PresentationFormat>Widescreen</PresentationFormat>
  <Paragraphs>134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Söhne</vt:lpstr>
      <vt:lpstr>Yu Gothic (body)</vt:lpstr>
      <vt:lpstr>游ゴシック Light</vt:lpstr>
      <vt:lpstr>游ゴシック Light</vt:lpstr>
      <vt:lpstr>Arial</vt:lpstr>
      <vt:lpstr>Calibri</vt:lpstr>
      <vt:lpstr>Calibri Light</vt:lpstr>
      <vt:lpstr>Montserrat</vt:lpstr>
      <vt:lpstr>Roboto</vt:lpstr>
      <vt:lpstr>Symbol</vt:lpstr>
      <vt:lpstr>Times New Roman</vt:lpstr>
      <vt:lpstr>Office Theme</vt:lpstr>
      <vt:lpstr>Fadhli Ammar Taqiyuddin Hakim</vt:lpstr>
      <vt:lpstr>【TUJUAN】</vt:lpstr>
      <vt:lpstr>【PAPER REFERENSI DAN BLOCK DIAGRAM】</vt:lpstr>
      <vt:lpstr>【PROPOSED GPLL】</vt:lpstr>
      <vt:lpstr>【SMO FOR BEMF】</vt:lpstr>
      <vt:lpstr>【SMO FOR BEMF】</vt:lpstr>
      <vt:lpstr>【RANGKAIAN SISTEM】</vt:lpstr>
      <vt:lpstr>【SENSOR-BASED】</vt:lpstr>
      <vt:lpstr>【SENSOR-BASED】</vt:lpstr>
      <vt:lpstr>【SENSOR-BASED】</vt:lpstr>
      <vt:lpstr>【SENSORLESS】</vt:lpstr>
      <vt:lpstr>【SENSORLESS】</vt:lpstr>
      <vt:lpstr>【SENSORLESS】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Prediksi dan Optimasi Sifat Mekanik Matriks Biokomposit-Biokomposit Berpenguat Serat Alami Menggunakan Machine Learning  Prediction and Optimization of Mechanical Properties of Natural Fiber Reinforced Biocomposite Matrix Using Machine Learning</dc:title>
  <dc:creator>Muhammad Rafi Endri</dc:creator>
  <cp:lastModifiedBy>Fadhli Ammar Taqiyuddin Hakim</cp:lastModifiedBy>
  <cp:revision>176</cp:revision>
  <dcterms:created xsi:type="dcterms:W3CDTF">2023-11-22T08:25:19Z</dcterms:created>
  <dcterms:modified xsi:type="dcterms:W3CDTF">2025-06-10T08:47:30Z</dcterms:modified>
</cp:coreProperties>
</file>
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76" r:id="rId3"/>
    <p:sldId id="292" r:id="rId4"/>
    <p:sldId id="294" r:id="rId5"/>
    <p:sldId id="295" r:id="rId6"/>
    <p:sldId id="293" r:id="rId7"/>
    <p:sldId id="27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2F6"/>
    <a:srgbClr val="020B5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36" autoAdjust="0"/>
  </p:normalViewPr>
  <p:slideViewPr>
    <p:cSldViewPr snapToGrid="0">
      <p:cViewPr varScale="1">
        <p:scale>
          <a:sx n="88" d="100"/>
          <a:sy n="88" d="100"/>
        </p:scale>
        <p:origin x="33" y="-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1CD239-CAFF-479D-A806-B31364D6259F}" type="datetimeFigureOut">
              <a:rPr lang="id-ID" smtClean="0"/>
              <a:t>26/05/2025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859E44-21B0-4FF4-A69A-51470D2BDF1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79028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 err="1"/>
              <a:t>Sotsugyou</a:t>
            </a:r>
            <a:r>
              <a:rPr lang="en-ID" dirty="0"/>
              <a:t> </a:t>
            </a:r>
            <a:r>
              <a:rPr lang="en-ID" dirty="0" err="1"/>
              <a:t>kenkyuu</a:t>
            </a:r>
            <a:r>
              <a:rPr lang="en-ID" dirty="0"/>
              <a:t> </a:t>
            </a:r>
            <a:r>
              <a:rPr lang="en-ID" dirty="0" err="1"/>
              <a:t>wa</a:t>
            </a:r>
            <a:r>
              <a:rPr lang="en-ID" dirty="0"/>
              <a:t> </a:t>
            </a:r>
            <a:r>
              <a:rPr lang="en-ID" dirty="0" err="1"/>
              <a:t>sakunen</a:t>
            </a:r>
            <a:r>
              <a:rPr lang="en-ID" dirty="0"/>
              <a:t> </a:t>
            </a:r>
            <a:r>
              <a:rPr lang="en-ID" dirty="0" err="1"/>
              <a:t>juunigatsu</a:t>
            </a:r>
            <a:r>
              <a:rPr lang="en-ID" dirty="0"/>
              <a:t> kara </a:t>
            </a:r>
            <a:r>
              <a:rPr lang="en-ID" dirty="0" err="1"/>
              <a:t>kaishi</a:t>
            </a:r>
            <a:r>
              <a:rPr lang="en-ID" dirty="0"/>
              <a:t>, </a:t>
            </a:r>
            <a:r>
              <a:rPr lang="en-ID" dirty="0" err="1"/>
              <a:t>kotoshi</a:t>
            </a:r>
            <a:r>
              <a:rPr lang="en-ID" dirty="0"/>
              <a:t> no </a:t>
            </a:r>
            <a:r>
              <a:rPr lang="en-ID" dirty="0" err="1"/>
              <a:t>rokugatsu</a:t>
            </a:r>
            <a:r>
              <a:rPr lang="en-ID" dirty="0"/>
              <a:t> </a:t>
            </a:r>
            <a:r>
              <a:rPr lang="en-ID" dirty="0" err="1"/>
              <a:t>ni</a:t>
            </a:r>
            <a:r>
              <a:rPr lang="en-ID" dirty="0"/>
              <a:t> </a:t>
            </a:r>
            <a:r>
              <a:rPr lang="en-ID" dirty="0" err="1"/>
              <a:t>shuryou</a:t>
            </a:r>
            <a:r>
              <a:rPr lang="en-ID" dirty="0"/>
              <a:t> </a:t>
            </a:r>
            <a:r>
              <a:rPr lang="en-ID" dirty="0" err="1"/>
              <a:t>suru</a:t>
            </a:r>
            <a:r>
              <a:rPr lang="en-ID" dirty="0"/>
              <a:t> </a:t>
            </a:r>
            <a:r>
              <a:rPr lang="en-ID" dirty="0" err="1"/>
              <a:t>yoteidesu</a:t>
            </a:r>
            <a:r>
              <a:rPr lang="en-ID" dirty="0"/>
              <a:t>. </a:t>
            </a:r>
            <a:r>
              <a:rPr lang="en-ID" dirty="0" err="1"/>
              <a:t>Yotte</a:t>
            </a:r>
            <a:r>
              <a:rPr lang="en-ID" dirty="0"/>
              <a:t>, </a:t>
            </a:r>
            <a:r>
              <a:rPr lang="en-ID" dirty="0" err="1"/>
              <a:t>kikai</a:t>
            </a:r>
            <a:r>
              <a:rPr lang="en-ID" dirty="0"/>
              <a:t> </a:t>
            </a:r>
            <a:r>
              <a:rPr lang="en-ID" dirty="0" err="1"/>
              <a:t>sekkei</a:t>
            </a:r>
            <a:r>
              <a:rPr lang="en-ID"/>
              <a:t> no purojekuto</a:t>
            </a:r>
            <a:r>
              <a:rPr lang="en-ID" dirty="0"/>
              <a:t> wo </a:t>
            </a:r>
            <a:r>
              <a:rPr lang="en-ID" dirty="0" err="1"/>
              <a:t>setsumei</a:t>
            </a:r>
            <a:r>
              <a:rPr lang="en-ID" dirty="0"/>
              <a:t> </a:t>
            </a:r>
            <a:r>
              <a:rPr lang="en-ID" dirty="0" err="1"/>
              <a:t>shimasu</a:t>
            </a:r>
            <a:r>
              <a:rPr lang="en-ID" dirty="0"/>
              <a:t>.</a:t>
            </a:r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859E44-21B0-4FF4-A69A-51470D2BDF1F}" type="slidenum">
              <a:rPr lang="id-ID" smtClean="0"/>
              <a:t>1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514929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dirty="0" err="1">
                <a:effectLst/>
              </a:rPr>
              <a:t>Kyonen</a:t>
            </a:r>
            <a:r>
              <a:rPr lang="en-ID" dirty="0">
                <a:effectLst/>
              </a:rPr>
              <a:t>, </a:t>
            </a:r>
            <a:r>
              <a:rPr lang="en-ID" dirty="0" err="1">
                <a:effectLst/>
              </a:rPr>
              <a:t>sankashita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purojektu</a:t>
            </a:r>
            <a:r>
              <a:rPr lang="en-ID" dirty="0">
                <a:effectLst/>
              </a:rPr>
              <a:t> wo </a:t>
            </a:r>
            <a:r>
              <a:rPr lang="en-ID" dirty="0" err="1">
                <a:effectLst/>
              </a:rPr>
              <a:t>mazu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shoukai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shimasu</a:t>
            </a:r>
            <a:r>
              <a:rPr lang="en-ID" dirty="0">
                <a:effectLst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dirty="0" err="1">
                <a:effectLst/>
              </a:rPr>
              <a:t>Chisai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na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kaisha-muke</a:t>
            </a:r>
            <a:r>
              <a:rPr lang="en-ID" dirty="0">
                <a:effectLst/>
              </a:rPr>
              <a:t> no </a:t>
            </a:r>
            <a:r>
              <a:rPr lang="en-ID" dirty="0" err="1">
                <a:effectLst/>
              </a:rPr>
              <a:t>konbeya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kikai</a:t>
            </a:r>
            <a:r>
              <a:rPr lang="en-ID" dirty="0">
                <a:effectLst/>
              </a:rPr>
              <a:t> wo </a:t>
            </a:r>
            <a:r>
              <a:rPr lang="en-ID" dirty="0" err="1">
                <a:effectLst/>
              </a:rPr>
              <a:t>sekkei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purojekto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desu</a:t>
            </a:r>
            <a:r>
              <a:rPr lang="en-ID" dirty="0">
                <a:effectLst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dirty="0" err="1">
                <a:effectLst/>
              </a:rPr>
              <a:t>Indoneshia</a:t>
            </a:r>
            <a:r>
              <a:rPr lang="en-ID" dirty="0">
                <a:effectLst/>
              </a:rPr>
              <a:t> de ha </a:t>
            </a:r>
            <a:r>
              <a:rPr lang="en-ID" dirty="0" err="1">
                <a:effectLst/>
              </a:rPr>
              <a:t>chisai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na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kaisha</a:t>
            </a:r>
            <a:r>
              <a:rPr lang="en-ID" dirty="0">
                <a:effectLst/>
              </a:rPr>
              <a:t> ga </a:t>
            </a:r>
            <a:r>
              <a:rPr lang="en-ID" dirty="0" err="1">
                <a:effectLst/>
              </a:rPr>
              <a:t>sugoku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ooiindesu</a:t>
            </a:r>
            <a:r>
              <a:rPr lang="en-ID" dirty="0">
                <a:effectLst/>
              </a:rPr>
              <a:t>, demo mono wo </a:t>
            </a:r>
            <a:r>
              <a:rPr lang="en-ID" dirty="0" err="1">
                <a:effectLst/>
              </a:rPr>
              <a:t>ugokasu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toki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konbeya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beruto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kikai</a:t>
            </a:r>
            <a:r>
              <a:rPr lang="en-ID" dirty="0">
                <a:effectLst/>
              </a:rPr>
              <a:t> wo </a:t>
            </a:r>
            <a:r>
              <a:rPr lang="en-ID" dirty="0" err="1">
                <a:effectLst/>
              </a:rPr>
              <a:t>tsukau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janakkute</a:t>
            </a:r>
            <a:r>
              <a:rPr lang="en-ID" dirty="0">
                <a:effectLst/>
              </a:rPr>
              <a:t>, </a:t>
            </a:r>
            <a:r>
              <a:rPr lang="en-ID" dirty="0" err="1">
                <a:effectLst/>
              </a:rPr>
              <a:t>jibun</a:t>
            </a:r>
            <a:r>
              <a:rPr lang="en-ID" dirty="0">
                <a:effectLst/>
              </a:rPr>
              <a:t> no </a:t>
            </a:r>
            <a:r>
              <a:rPr lang="en-ID" dirty="0" err="1">
                <a:effectLst/>
              </a:rPr>
              <a:t>chikara</a:t>
            </a:r>
            <a:r>
              <a:rPr lang="en-ID" dirty="0">
                <a:effectLst/>
              </a:rPr>
              <a:t> wo </a:t>
            </a:r>
            <a:r>
              <a:rPr lang="en-ID" dirty="0" err="1">
                <a:effectLst/>
              </a:rPr>
              <a:t>tsukatteimasu</a:t>
            </a:r>
            <a:r>
              <a:rPr lang="en-ID" dirty="0">
                <a:effectLst/>
              </a:rPr>
              <a:t>, </a:t>
            </a:r>
            <a:r>
              <a:rPr lang="en-ID" dirty="0" err="1">
                <a:effectLst/>
              </a:rPr>
              <a:t>sugoku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kitsui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desu</a:t>
            </a:r>
            <a:r>
              <a:rPr lang="en-ID" dirty="0">
                <a:effectLst/>
              </a:rPr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dirty="0" err="1">
                <a:effectLst/>
              </a:rPr>
              <a:t>Mondai</a:t>
            </a:r>
            <a:r>
              <a:rPr lang="en-ID" dirty="0">
                <a:effectLst/>
              </a:rPr>
              <a:t> ha </a:t>
            </a:r>
            <a:r>
              <a:rPr lang="en-ID" dirty="0" err="1">
                <a:effectLst/>
              </a:rPr>
              <a:t>konbeya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beruto</a:t>
            </a:r>
            <a:r>
              <a:rPr lang="en-ID" dirty="0">
                <a:effectLst/>
              </a:rPr>
              <a:t> no </a:t>
            </a:r>
            <a:r>
              <a:rPr lang="en-ID" dirty="0" err="1">
                <a:effectLst/>
              </a:rPr>
              <a:t>nedan</a:t>
            </a:r>
            <a:r>
              <a:rPr lang="en-ID" dirty="0">
                <a:effectLst/>
              </a:rPr>
              <a:t> ga </a:t>
            </a:r>
            <a:r>
              <a:rPr lang="en-ID" dirty="0" err="1">
                <a:effectLst/>
              </a:rPr>
              <a:t>takai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desu</a:t>
            </a:r>
            <a:r>
              <a:rPr lang="en-ID" dirty="0">
                <a:effectLst/>
              </a:rPr>
              <a:t>, kau </a:t>
            </a:r>
            <a:r>
              <a:rPr lang="en-ID" dirty="0" err="1">
                <a:effectLst/>
              </a:rPr>
              <a:t>koto</a:t>
            </a:r>
            <a:r>
              <a:rPr lang="en-ID" dirty="0">
                <a:effectLst/>
              </a:rPr>
              <a:t> ga </a:t>
            </a:r>
            <a:r>
              <a:rPr lang="en-ID" dirty="0" err="1">
                <a:effectLst/>
              </a:rPr>
              <a:t>dekimasen</a:t>
            </a:r>
            <a:r>
              <a:rPr lang="en-ID" dirty="0">
                <a:effectLst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dirty="0" err="1">
                <a:effectLst/>
              </a:rPr>
              <a:t>Mokuteki</a:t>
            </a:r>
            <a:r>
              <a:rPr lang="en-ID" dirty="0">
                <a:effectLst/>
              </a:rPr>
              <a:t> ha ii </a:t>
            </a:r>
            <a:r>
              <a:rPr lang="en-ID" dirty="0" err="1">
                <a:effectLst/>
              </a:rPr>
              <a:t>hinshitsu</a:t>
            </a:r>
            <a:r>
              <a:rPr lang="en-ID" dirty="0">
                <a:effectLst/>
              </a:rPr>
              <a:t>/ii </a:t>
            </a:r>
            <a:r>
              <a:rPr lang="en-ID" dirty="0" err="1">
                <a:effectLst/>
              </a:rPr>
              <a:t>kuoriti</a:t>
            </a:r>
            <a:r>
              <a:rPr lang="en-ID" dirty="0">
                <a:effectLst/>
              </a:rPr>
              <a:t> de </a:t>
            </a:r>
            <a:r>
              <a:rPr lang="en-ID" dirty="0" err="1">
                <a:effectLst/>
              </a:rPr>
              <a:t>yasui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nedan</a:t>
            </a:r>
            <a:r>
              <a:rPr lang="en-ID" dirty="0">
                <a:effectLst/>
              </a:rPr>
              <a:t> de </a:t>
            </a:r>
            <a:r>
              <a:rPr lang="en-ID" dirty="0" err="1">
                <a:effectLst/>
              </a:rPr>
              <a:t>konbeya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kikai</a:t>
            </a:r>
            <a:r>
              <a:rPr lang="en-ID" dirty="0">
                <a:effectLst/>
              </a:rPr>
              <a:t> wo </a:t>
            </a:r>
            <a:r>
              <a:rPr lang="en-ID" dirty="0" err="1">
                <a:effectLst/>
              </a:rPr>
              <a:t>tsukuru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koto</a:t>
            </a:r>
            <a:r>
              <a:rPr lang="en-ID" dirty="0">
                <a:effectLst/>
              </a:rPr>
              <a:t> ga </a:t>
            </a:r>
            <a:r>
              <a:rPr lang="en-ID" dirty="0" err="1">
                <a:effectLst/>
              </a:rPr>
              <a:t>mokuteki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desu</a:t>
            </a:r>
            <a:endParaRPr lang="en-ID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859E44-21B0-4FF4-A69A-51470D2BDF1F}" type="slidenum">
              <a:rPr lang="id-ID" smtClean="0"/>
              <a:t>2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228382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Houhou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Soriddowākususofutou~ea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shiyō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shita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berutokonbeyā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shisaku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-ki no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sekkei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shimashita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</a:t>
            </a:r>
            <a:endParaRPr lang="en-US" b="0" i="0" dirty="0">
              <a:solidFill>
                <a:srgbClr val="5F6368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Kosuto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osaeru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tame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ni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,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ankana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zairyō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erabimasu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Hansei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-ten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Konbeaberuto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no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sekkei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yori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kōritsu-teki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ni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shimasu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Kikai no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zairyō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o,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yori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hinshitsunoii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ankana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mono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ni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henkō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shimasu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Berutokonbea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kikai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ga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taerareru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saidai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jūryō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fuyashimasu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859E44-21B0-4FF4-A69A-51470D2BDF1F}" type="slidenum">
              <a:rPr lang="id-ID" smtClean="0"/>
              <a:t>3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509613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Houhou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Soriddowākususofutou~ea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shiyō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shita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berutokonbeyā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shisaku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-ki no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sekkei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shimashita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</a:t>
            </a:r>
            <a:endParaRPr lang="en-US" b="0" i="0" dirty="0">
              <a:solidFill>
                <a:srgbClr val="5F6368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Kosuto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osaeru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tame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ni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,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ankana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zairyō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erabimasu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Hansei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-ten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Konbeaberuto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no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sekkei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yori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kōritsu-teki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ni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shimasu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Kikai no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zairyō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o,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yori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hinshitsunoii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ankana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mono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ni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henkō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shimasu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Berutokonbea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kikai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ga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taerareru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saidai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jūryō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fuyashimasu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859E44-21B0-4FF4-A69A-51470D2BDF1F}" type="slidenum">
              <a:rPr lang="id-ID" smtClean="0"/>
              <a:t>4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445100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Houhou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Soriddowākususofutou~ea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shiyō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shita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berutokonbeyā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shisaku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-ki no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sekkei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shimashita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</a:t>
            </a:r>
            <a:endParaRPr lang="en-US" b="0" i="0" dirty="0">
              <a:solidFill>
                <a:srgbClr val="5F6368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Kosuto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osaeru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tame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ni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,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ankana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zairyō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erabimasu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Hansei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-ten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Konbeaberuto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no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sekkei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yori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kōritsu-teki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ni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shimasu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Kikai no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zairyō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o,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yori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hinshitsunoii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ankana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mono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ni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henkō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shimasu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Berutokonbea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kikai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ga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taerareru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saidai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jūryō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fuyashimasu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859E44-21B0-4FF4-A69A-51470D2BDF1F}" type="slidenum">
              <a:rPr lang="id-ID" smtClean="0"/>
              <a:t>5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138250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Houhou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Soriddowākususofutou~ea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shiyō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shita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berutokonbeyā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shisaku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-ki no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sekkei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shimashita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</a:t>
            </a:r>
            <a:endParaRPr lang="en-US" b="0" i="0" dirty="0">
              <a:solidFill>
                <a:srgbClr val="5F6368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Kosuto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osaeru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tame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ni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,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ankana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zairyō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erabimasu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Hansei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-ten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Konbeaberuto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no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sekkei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yori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kōritsu-teki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ni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shimasu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Kikai no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zairyō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o,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yori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hinshitsunoii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ankana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mono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ni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henkō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shimasu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Berutokonbea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kikai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ga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taerareru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saidai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jūryō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fuyashimasu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859E44-21B0-4FF4-A69A-51470D2BDF1F}" type="slidenum">
              <a:rPr lang="id-ID" smtClean="0"/>
              <a:t>6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47258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63718-44C2-6068-ADB0-D870B90971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9BDD58-205D-F12A-65CE-D553D7D025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4FCFB-9AD1-B3BC-F3CE-A4135055D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9ED26-F1BD-41EB-8775-400DABCF36B2}" type="datetimeFigureOut">
              <a:rPr lang="id-ID" smtClean="0"/>
              <a:t>26/05/2025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2728A-C61E-4A79-988E-A08F2829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A259D-295F-00C0-7A2C-753FCA851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94A75-4BC3-470C-BD24-366E05FDE7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14854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C1CE1-3D52-94C2-8BBD-E814B8821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5A338-A593-7292-45CC-B896DD599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4A838-4386-FCE7-117D-C527A97FD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9ED26-F1BD-41EB-8775-400DABCF36B2}" type="datetimeFigureOut">
              <a:rPr lang="id-ID" smtClean="0"/>
              <a:t>26/05/2025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A94F6-BEDA-813E-3783-BD69B82D9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143A4-33B7-8272-BE4F-625322725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94A75-4BC3-470C-BD24-366E05FDE7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93907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25692-25AD-0999-E261-8E5D5BF7B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684FEB-3610-183F-E147-987DD490C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EBCCA-C987-5743-E667-28BA8F2CF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9ED26-F1BD-41EB-8775-400DABCF36B2}" type="datetimeFigureOut">
              <a:rPr lang="id-ID" smtClean="0"/>
              <a:t>26/05/2025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E342B-B1CB-2370-5E3C-53DE747D1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0A55F-B79B-A213-7B9C-3EE0B8A5D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94A75-4BC3-470C-BD24-366E05FDE7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56394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3FC56-F3D9-C861-8F59-077363929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1CEC2-3A75-89EB-888E-6A8ED0D603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F5F7AB-49D7-0861-BB43-8F47FAFAB8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C18DD4-ACDB-26C8-CDEC-0E9CE5029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9ED26-F1BD-41EB-8775-400DABCF36B2}" type="datetimeFigureOut">
              <a:rPr lang="id-ID" smtClean="0"/>
              <a:t>26/05/2025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47FB4D-F947-D795-C67C-9DFBCFB57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FEDE06-B004-209E-C64E-A95C3109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94A75-4BC3-470C-BD24-366E05FDE7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71945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88684-1B47-F885-3696-05D38045E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36ADE-B8F6-B16B-F650-B9D654DEC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BBC7AB-8001-4418-042A-FB0BF16058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5BD391-B60C-2D79-CACA-0F400D7A6C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E28AEA-D72B-1D46-E5A3-E208593C9E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640ACA-5483-9B2D-773E-EDFA72120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9ED26-F1BD-41EB-8775-400DABCF36B2}" type="datetimeFigureOut">
              <a:rPr lang="id-ID" smtClean="0"/>
              <a:t>26/05/2025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A15744-2E8A-75FD-89BC-269250988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E0D2BB-953B-5170-D803-B1E4E80AD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94A75-4BC3-470C-BD24-366E05FDE7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34736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84E93-71A6-D8BB-512D-CE98502E5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C2C561-C4DD-D681-3889-0C5FD076E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9ED26-F1BD-41EB-8775-400DABCF36B2}" type="datetimeFigureOut">
              <a:rPr lang="id-ID" smtClean="0"/>
              <a:t>26/05/2025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0577FB-3DF5-71D6-A54B-B6E85C7B8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6D1F37-AF0A-2556-9A13-D21521525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94A75-4BC3-470C-BD24-366E05FDE7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98335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847BCE-D997-702D-519B-FB25FFC04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9ED26-F1BD-41EB-8775-400DABCF36B2}" type="datetimeFigureOut">
              <a:rPr lang="id-ID" smtClean="0"/>
              <a:t>26/05/2025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1FAAB8-DC9A-CDF6-1564-A41420418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1DCF5F-FDE7-D52F-4EF7-5A7AC40F1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94A75-4BC3-470C-BD24-366E05FDE7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49773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A206B-960C-2C21-2678-7D89DDD2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64D4E-033A-A4D2-1CBE-41D23FD25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331323-3735-E973-378C-A2994BAEA8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E3A21F-1EE3-EDBE-BC20-E4321BA0C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9ED26-F1BD-41EB-8775-400DABCF36B2}" type="datetimeFigureOut">
              <a:rPr lang="id-ID" smtClean="0"/>
              <a:t>26/05/2025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3F892-09A9-120C-50C7-9954C2EF5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103AD5-08F8-8000-D587-EB506B80F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94A75-4BC3-470C-BD24-366E05FDE7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1004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46C35-21DB-0F17-6A29-A9BAB548E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719EC7-F074-A1CA-FAC6-7C5E778DFB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B69113-7E9D-1AB0-CED1-457D1B926D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40F948-BB6F-E70B-285B-D0AA0E9E9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9ED26-F1BD-41EB-8775-400DABCF36B2}" type="datetimeFigureOut">
              <a:rPr lang="id-ID" smtClean="0"/>
              <a:t>26/05/2025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79457B-C30A-1C40-B01B-F2F9F7955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58A59F-E32D-C30C-F81F-1B7AE043A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94A75-4BC3-470C-BD24-366E05FDE7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65829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9AD03-C736-11D1-B64E-6D0EEA878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550F74-1E23-060B-6099-725C41CF04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D2EDA-7A0C-15BA-1786-59F0CDC64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9ED26-F1BD-41EB-8775-400DABCF36B2}" type="datetimeFigureOut">
              <a:rPr lang="id-ID" smtClean="0"/>
              <a:t>26/05/2025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4043C-3C47-85A9-397E-5F68CAA46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93BD5-DA72-DD69-CFD8-FDA80CA62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94A75-4BC3-470C-BD24-366E05FDE7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74629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C69491-90B5-2E7C-9BB2-A54A1C027D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8EB501-CB4A-66F4-3627-7A241CCC9A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DCEAA-1D0D-030D-0481-0EB0D5DCD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9ED26-F1BD-41EB-8775-400DABCF36B2}" type="datetimeFigureOut">
              <a:rPr lang="id-ID" smtClean="0"/>
              <a:t>26/05/2025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F3D8A-9494-E605-BD77-004C2ECCF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3E814-A961-0D6F-0C32-3410B20E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94A75-4BC3-470C-BD24-366E05FDE7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17532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EC9539-8CC1-0FB0-1921-FAA8E337A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DC7FB7-969F-9002-C93A-B1CDC2F4DD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70757-F404-DCE3-A5A0-2BBA6C3532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B9ED26-F1BD-41EB-8775-400DABCF36B2}" type="datetimeFigureOut">
              <a:rPr lang="id-ID" smtClean="0"/>
              <a:t>26/05/2025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2431C-E46C-B3AD-3E86-A59486EDF2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88992-7A5D-F67B-67AE-4240902B26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294A75-4BC3-470C-BD24-366E05FDE7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48538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85;p30">
            <a:extLst>
              <a:ext uri="{FF2B5EF4-FFF2-40B4-BE49-F238E27FC236}">
                <a16:creationId xmlns:a16="http://schemas.microsoft.com/office/drawing/2014/main" id="{5973B738-D551-A93A-6C87-BC905029FCF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38065" y="1734472"/>
            <a:ext cx="8058837" cy="119745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000" b="1" dirty="0">
                <a:latin typeface="Yu Gothic Light" panose="020B0300000000000000" pitchFamily="34" charset="-128"/>
                <a:ea typeface="Yu Gothic Light" panose="020B0300000000000000" pitchFamily="34" charset="-128"/>
                <a:cs typeface="Arial" panose="020B0604020202020204" pitchFamily="34" charset="0"/>
              </a:rPr>
              <a:t>Fadhli Ammar Taqiyuddin Hakim</a:t>
            </a:r>
            <a:br>
              <a:rPr lang="en-US" sz="3000" b="1" dirty="0">
                <a:solidFill>
                  <a:schemeClr val="accent1"/>
                </a:solidFill>
                <a:latin typeface="Montserrat" panose="02000505000000020004" pitchFamily="2" charset="0"/>
                <a:ea typeface="Yu Gothic Light" panose="020B0300000000000000" pitchFamily="34" charset="-128"/>
                <a:cs typeface="Arial" panose="020B0604020202020204" pitchFamily="34" charset="0"/>
              </a:rPr>
            </a:br>
            <a:r>
              <a:rPr lang="ja-JP" altLang="en-US" sz="3000" dirty="0">
                <a:latin typeface="Yu Gothic" panose="020B0400000000000000" pitchFamily="34" charset="-128"/>
                <a:ea typeface="Yu Gothic" panose="020B0400000000000000" pitchFamily="34" charset="-128"/>
                <a:cs typeface="Arial" panose="020B0604020202020204" pitchFamily="34" charset="0"/>
              </a:rPr>
              <a:t>ファドリ・アッマル・タキユッヂん・ハキム</a:t>
            </a:r>
            <a:endParaRPr sz="3000" b="1" dirty="0">
              <a:solidFill>
                <a:schemeClr val="accent1">
                  <a:lumMod val="75000"/>
                </a:schemeClr>
              </a:solidFill>
              <a:latin typeface="Montserrat" panose="02000505000000020004" pitchFamily="2" charset="0"/>
              <a:cs typeface="Arial" panose="020B0604020202020204" pitchFamily="34" charset="0"/>
            </a:endParaRPr>
          </a:p>
        </p:txBody>
      </p:sp>
      <p:sp>
        <p:nvSpPr>
          <p:cNvPr id="19" name="Google Shape;186;p30">
            <a:extLst>
              <a:ext uri="{FF2B5EF4-FFF2-40B4-BE49-F238E27FC236}">
                <a16:creationId xmlns:a16="http://schemas.microsoft.com/office/drawing/2014/main" id="{D0A21E8D-DC14-EB08-E8D1-507A1A7E3369}"/>
              </a:ext>
            </a:extLst>
          </p:cNvPr>
          <p:cNvSpPr txBox="1">
            <a:spLocks/>
          </p:cNvSpPr>
          <p:nvPr/>
        </p:nvSpPr>
        <p:spPr>
          <a:xfrm>
            <a:off x="1969747" y="3068896"/>
            <a:ext cx="5195471" cy="67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1600" b="0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ctr"/>
            <a:r>
              <a:rPr lang="ja-JP" altLang="en-US" sz="3000" b="1" dirty="0">
                <a:solidFill>
                  <a:schemeClr val="tx1"/>
                </a:solidFill>
                <a:effectLst/>
              </a:rPr>
              <a:t>インドネシア大学 </a:t>
            </a:r>
            <a:r>
              <a:rPr lang="en-US" altLang="ja-JP" sz="30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-</a:t>
            </a:r>
            <a:r>
              <a:rPr lang="en-US" altLang="ja-JP" sz="3000" b="1" dirty="0">
                <a:solidFill>
                  <a:schemeClr val="tx1"/>
                </a:solidFill>
                <a:effectLst/>
              </a:rPr>
              <a:t> </a:t>
            </a:r>
            <a:r>
              <a:rPr lang="ja-JP" altLang="en-US" sz="3000" b="1" dirty="0">
                <a:solidFill>
                  <a:schemeClr val="tx1"/>
                </a:solidFill>
                <a:effectLst/>
              </a:rPr>
              <a:t>電気工学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A18E42D-773E-558A-6EE7-A5BF96E95FD3}"/>
              </a:ext>
            </a:extLst>
          </p:cNvPr>
          <p:cNvSpPr/>
          <p:nvPr/>
        </p:nvSpPr>
        <p:spPr>
          <a:xfrm>
            <a:off x="9134966" y="-186613"/>
            <a:ext cx="3057034" cy="63105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DACBB5-89B7-46E0-ACFE-2DDA2E964A5B}"/>
              </a:ext>
            </a:extLst>
          </p:cNvPr>
          <p:cNvSpPr/>
          <p:nvPr/>
        </p:nvSpPr>
        <p:spPr>
          <a:xfrm>
            <a:off x="9134966" y="1749056"/>
            <a:ext cx="3057034" cy="48352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035C5D-3E19-4BD7-BAFE-91CB54CEB4AA}"/>
              </a:ext>
            </a:extLst>
          </p:cNvPr>
          <p:cNvSpPr/>
          <p:nvPr/>
        </p:nvSpPr>
        <p:spPr>
          <a:xfrm>
            <a:off x="9134966" y="3843670"/>
            <a:ext cx="3057034" cy="274059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EDB3FFFD-4901-D3BC-7F89-C48C30E61384}"/>
              </a:ext>
            </a:extLst>
          </p:cNvPr>
          <p:cNvSpPr/>
          <p:nvPr/>
        </p:nvSpPr>
        <p:spPr>
          <a:xfrm>
            <a:off x="0" y="6123916"/>
            <a:ext cx="12192000" cy="734084"/>
          </a:xfrm>
          <a:custGeom>
            <a:avLst/>
            <a:gdLst/>
            <a:ahLst/>
            <a:cxnLst/>
            <a:rect l="l" t="t" r="r" b="b"/>
            <a:pathLst>
              <a:path w="18288000" h="1252854">
                <a:moveTo>
                  <a:pt x="18287999" y="1252478"/>
                </a:moveTo>
                <a:lnTo>
                  <a:pt x="0" y="1252478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1252478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E559B85-9B54-48E5-B989-2D1A4268ADE8}"/>
              </a:ext>
            </a:extLst>
          </p:cNvPr>
          <p:cNvCxnSpPr/>
          <p:nvPr/>
        </p:nvCxnSpPr>
        <p:spPr>
          <a:xfrm>
            <a:off x="386231" y="2931925"/>
            <a:ext cx="8362507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0469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5">
            <a:extLst>
              <a:ext uri="{FF2B5EF4-FFF2-40B4-BE49-F238E27FC236}">
                <a16:creationId xmlns:a16="http://schemas.microsoft.com/office/drawing/2014/main" id="{800EEE61-4A5C-EF0C-F049-28552A341312}"/>
              </a:ext>
            </a:extLst>
          </p:cNvPr>
          <p:cNvSpPr/>
          <p:nvPr/>
        </p:nvSpPr>
        <p:spPr>
          <a:xfrm>
            <a:off x="0" y="6582398"/>
            <a:ext cx="12192000" cy="734084"/>
          </a:xfrm>
          <a:custGeom>
            <a:avLst/>
            <a:gdLst/>
            <a:ahLst/>
            <a:cxnLst/>
            <a:rect l="l" t="t" r="r" b="b"/>
            <a:pathLst>
              <a:path w="18288000" h="1252854">
                <a:moveTo>
                  <a:pt x="18287999" y="1252478"/>
                </a:moveTo>
                <a:lnTo>
                  <a:pt x="0" y="1252478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1252478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Google Shape;107;p15">
            <a:extLst>
              <a:ext uri="{FF2B5EF4-FFF2-40B4-BE49-F238E27FC236}">
                <a16:creationId xmlns:a16="http://schemas.microsoft.com/office/drawing/2014/main" id="{176550CD-B131-48E7-940D-3EB6BE391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913" y="965736"/>
            <a:ext cx="924597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ja-JP" sz="2800" b="1" dirty="0">
                <a:latin typeface="Montserrat" panose="02000505000000020004" pitchFamily="2" charset="0"/>
              </a:rPr>
              <a:t>【</a:t>
            </a:r>
            <a:r>
              <a:rPr lang="ja-JP" altLang="en-US" sz="2800" b="1" dirty="0">
                <a:latin typeface="Montserrat" panose="02000505000000020004" pitchFamily="2" charset="0"/>
              </a:rPr>
              <a:t>プロジェクト</a:t>
            </a:r>
            <a:r>
              <a:rPr lang="en-US" altLang="ja-JP" sz="2800" b="1" dirty="0">
                <a:latin typeface="Montserrat" panose="02000505000000020004" pitchFamily="2" charset="0"/>
              </a:rPr>
              <a:t>】</a:t>
            </a:r>
            <a:endParaRPr lang="ja-JP" altLang="en-US" sz="2800" dirty="0">
              <a:latin typeface="Montserrat" panose="02000505000000020004" pitchFamily="2" charset="0"/>
            </a:endParaRPr>
          </a:p>
        </p:txBody>
      </p:sp>
      <p:cxnSp>
        <p:nvCxnSpPr>
          <p:cNvPr id="13" name="Google Shape;116;p15">
            <a:extLst>
              <a:ext uri="{FF2B5EF4-FFF2-40B4-BE49-F238E27FC236}">
                <a16:creationId xmlns:a16="http://schemas.microsoft.com/office/drawing/2014/main" id="{61F9D070-DFBF-2BCD-A5C8-C0140E41A0B0}"/>
              </a:ext>
            </a:extLst>
          </p:cNvPr>
          <p:cNvCxnSpPr>
            <a:cxnSpLocks/>
          </p:cNvCxnSpPr>
          <p:nvPr/>
        </p:nvCxnSpPr>
        <p:spPr>
          <a:xfrm>
            <a:off x="505536" y="1503807"/>
            <a:ext cx="11213713" cy="0"/>
          </a:xfrm>
          <a:prstGeom prst="straightConnector1">
            <a:avLst/>
          </a:prstGeom>
          <a:noFill/>
          <a:ln w="9525" cap="flat" cmpd="sng">
            <a:solidFill>
              <a:srgbClr val="38664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6" name="Google Shape;109;p15">
            <a:extLst>
              <a:ext uri="{FF2B5EF4-FFF2-40B4-BE49-F238E27FC236}">
                <a16:creationId xmlns:a16="http://schemas.microsoft.com/office/drawing/2014/main" id="{2A5041FF-E3BB-AEE3-65DC-B52EB313B667}"/>
              </a:ext>
            </a:extLst>
          </p:cNvPr>
          <p:cNvSpPr/>
          <p:nvPr/>
        </p:nvSpPr>
        <p:spPr>
          <a:xfrm>
            <a:off x="4800901" y="1273"/>
            <a:ext cx="4225235" cy="477417"/>
          </a:xfrm>
          <a:prstGeom prst="trapezoid">
            <a:avLst>
              <a:gd name="adj" fmla="val 69449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09;p15">
            <a:extLst>
              <a:ext uri="{FF2B5EF4-FFF2-40B4-BE49-F238E27FC236}">
                <a16:creationId xmlns:a16="http://schemas.microsoft.com/office/drawing/2014/main" id="{EDEDF6F7-DDDF-9607-CEF2-C3DCEED3DCC9}"/>
              </a:ext>
            </a:extLst>
          </p:cNvPr>
          <p:cNvSpPr/>
          <p:nvPr/>
        </p:nvSpPr>
        <p:spPr>
          <a:xfrm>
            <a:off x="7195921" y="0"/>
            <a:ext cx="4225235" cy="477417"/>
          </a:xfrm>
          <a:prstGeom prst="trapezoid">
            <a:avLst>
              <a:gd name="adj" fmla="val 69449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10;p15">
            <a:extLst>
              <a:ext uri="{FF2B5EF4-FFF2-40B4-BE49-F238E27FC236}">
                <a16:creationId xmlns:a16="http://schemas.microsoft.com/office/drawing/2014/main" id="{597491E4-954B-6FE4-EA6C-E6FF2322821D}"/>
              </a:ext>
            </a:extLst>
          </p:cNvPr>
          <p:cNvSpPr/>
          <p:nvPr/>
        </p:nvSpPr>
        <p:spPr>
          <a:xfrm>
            <a:off x="9590939" y="0"/>
            <a:ext cx="3927566" cy="477417"/>
          </a:xfrm>
          <a:prstGeom prst="trapezoid">
            <a:avLst>
              <a:gd name="adj" fmla="val 69449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C81C15-C49B-CFC0-0646-0C045F921556}"/>
              </a:ext>
            </a:extLst>
          </p:cNvPr>
          <p:cNvSpPr txBox="1"/>
          <p:nvPr/>
        </p:nvSpPr>
        <p:spPr>
          <a:xfrm>
            <a:off x="505536" y="1632998"/>
            <a:ext cx="6189626" cy="92333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0" i="0" dirty="0">
                <a:effectLst/>
                <a:latin typeface="Yu Gothic (body)"/>
              </a:rPr>
              <a:t>期間</a:t>
            </a:r>
            <a:r>
              <a:rPr lang="en-ID" altLang="ja-JP" b="0" i="0" dirty="0">
                <a:effectLst/>
                <a:latin typeface="Yu Gothic (body)"/>
              </a:rPr>
              <a:t>		</a:t>
            </a:r>
            <a:r>
              <a:rPr lang="ja-JP" altLang="en-US" b="0" i="0" dirty="0">
                <a:effectLst/>
                <a:latin typeface="Yu Gothic (body)"/>
              </a:rPr>
              <a:t>：２０２</a:t>
            </a:r>
            <a:r>
              <a:rPr lang="ja-JP" altLang="en-US" dirty="0">
                <a:latin typeface="Yu Gothic (body)"/>
              </a:rPr>
              <a:t>５</a:t>
            </a:r>
            <a:r>
              <a:rPr lang="ja-JP" altLang="en-US" b="0" i="0" dirty="0">
                <a:effectLst/>
                <a:latin typeface="Yu Gothic (body)"/>
              </a:rPr>
              <a:t>年５月～２０２５年６月</a:t>
            </a:r>
            <a:endParaRPr lang="en-ID" altLang="ja-JP" b="0" i="0" dirty="0">
              <a:effectLst/>
              <a:latin typeface="Yu Gothic (body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Yu Gothic (body)"/>
              </a:rPr>
              <a:t>プロジェクト</a:t>
            </a:r>
            <a:r>
              <a:rPr lang="en-ID" altLang="ja-JP" dirty="0">
                <a:latin typeface="Yu Gothic (body)"/>
              </a:rPr>
              <a:t>	</a:t>
            </a:r>
            <a:r>
              <a:rPr lang="ja-JP" altLang="en-US" dirty="0">
                <a:latin typeface="Yu Gothic (body)"/>
              </a:rPr>
              <a:t>：逆起電力に基づく</a:t>
            </a:r>
            <a:r>
              <a:rPr lang="en-US" altLang="ja-JP" dirty="0">
                <a:latin typeface="Yu Gothic (body)"/>
              </a:rPr>
              <a:t>PMSM</a:t>
            </a:r>
            <a:r>
              <a:rPr lang="ja-JP" altLang="en-US" dirty="0">
                <a:latin typeface="Yu Gothic (body)"/>
              </a:rPr>
              <a:t>モーターのセンサレス制御向上のための</a:t>
            </a:r>
            <a:r>
              <a:rPr lang="en-US" altLang="ja-JP" dirty="0">
                <a:latin typeface="Yu Gothic (body)"/>
              </a:rPr>
              <a:t>GPLL</a:t>
            </a:r>
            <a:r>
              <a:rPr lang="ja-JP" altLang="en-US" dirty="0">
                <a:latin typeface="Yu Gothic (body)"/>
              </a:rPr>
              <a:t>シミュレーション作成</a:t>
            </a:r>
            <a:endParaRPr lang="id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C551B6-7820-DBFB-0EBB-D227436D6586}"/>
              </a:ext>
            </a:extLst>
          </p:cNvPr>
          <p:cNvSpPr txBox="1"/>
          <p:nvPr/>
        </p:nvSpPr>
        <p:spPr>
          <a:xfrm>
            <a:off x="505536" y="3599867"/>
            <a:ext cx="5428733" cy="175432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ja-JP" altLang="en-US" dirty="0">
                <a:latin typeface="Söhne"/>
              </a:rPr>
              <a:t>背景</a:t>
            </a:r>
            <a:endParaRPr lang="en-ID" altLang="ja-JP" dirty="0">
              <a:latin typeface="Söhne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ja-JP" altLang="en-US" dirty="0">
                <a:latin typeface="Söhne"/>
                <a:ea typeface="游ゴシック"/>
              </a:rPr>
              <a:t>電気モーターのコストと故障リスクを減らすために、センサーを使わずに動きを正確に制御する技術（センサレス制御）を改良する必要があり、そのために</a:t>
            </a:r>
            <a:r>
              <a:rPr lang="en-US" altLang="ja-JP" dirty="0">
                <a:latin typeface="Yu Gothic (body)"/>
              </a:rPr>
              <a:t>GPLL</a:t>
            </a:r>
            <a:r>
              <a:rPr lang="ja-JP" altLang="en-US" dirty="0">
                <a:latin typeface="Söhne"/>
                <a:ea typeface="游ゴシック"/>
              </a:rPr>
              <a:t>という方法を使います。</a:t>
            </a:r>
            <a:endParaRPr lang="en-ID" altLang="ja-JP" dirty="0">
              <a:latin typeface="Söhne"/>
              <a:ea typeface="游ゴシック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98AAD5-4C64-11F2-C7FB-190267296A2F}"/>
              </a:ext>
            </a:extLst>
          </p:cNvPr>
          <p:cNvSpPr txBox="1"/>
          <p:nvPr/>
        </p:nvSpPr>
        <p:spPr>
          <a:xfrm>
            <a:off x="6096000" y="3599867"/>
            <a:ext cx="5428733" cy="175432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lIns="91440" tIns="45720" rIns="91440" bIns="45720" anchor="t">
            <a:spAutoFit/>
          </a:bodyPr>
          <a:lstStyle/>
          <a:p>
            <a:pPr marL="800100" lvl="1" indent="-342900">
              <a:buFont typeface="+mj-lt"/>
              <a:buAutoNum type="arabicPeriod" startAt="2"/>
            </a:pPr>
            <a:r>
              <a:rPr lang="ja-JP" altLang="en-US" dirty="0">
                <a:latin typeface="Söhne"/>
              </a:rPr>
              <a:t>目的</a:t>
            </a:r>
            <a:endParaRPr lang="en-ID" altLang="ja-JP" dirty="0">
              <a:latin typeface="Söhne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ja-JP" altLang="en-US" dirty="0"/>
              <a:t>センサーを使わずにモーターの状態を正確に推定する技術の有効性を検証する。</a:t>
            </a:r>
            <a:endParaRPr lang="en-US" altLang="ja-JP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ja-JP" altLang="en-US" dirty="0"/>
              <a:t>制御システムの信頼性向上とコスト削減の可能性を評価する。</a:t>
            </a:r>
            <a:endParaRPr lang="en-ID" altLang="ja-JP" dirty="0">
              <a:latin typeface="Söhne"/>
              <a:ea typeface="游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015980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07;p15">
            <a:extLst>
              <a:ext uri="{FF2B5EF4-FFF2-40B4-BE49-F238E27FC236}">
                <a16:creationId xmlns:a16="http://schemas.microsoft.com/office/drawing/2014/main" id="{176550CD-B131-48E7-940D-3EB6BE391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913" y="533309"/>
            <a:ext cx="924597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ja-JP" sz="2800" b="1" dirty="0">
                <a:latin typeface="Montserrat" panose="02000505000000020004" pitchFamily="2" charset="0"/>
              </a:rPr>
              <a:t>【</a:t>
            </a:r>
            <a:r>
              <a:rPr lang="ja-JP" altLang="en-US" sz="2800" b="1" dirty="0">
                <a:latin typeface="Montserrat" panose="02000505000000020004" pitchFamily="2" charset="0"/>
              </a:rPr>
              <a:t>プロジェクト</a:t>
            </a:r>
            <a:r>
              <a:rPr lang="en-US" altLang="ja-JP" sz="2800" b="1" dirty="0">
                <a:latin typeface="Montserrat" panose="02000505000000020004" pitchFamily="2" charset="0"/>
              </a:rPr>
              <a:t>】</a:t>
            </a:r>
            <a:endParaRPr lang="ja-JP" altLang="en-US" sz="2800" dirty="0">
              <a:latin typeface="Montserrat" panose="02000505000000020004" pitchFamily="2" charset="0"/>
            </a:endParaRPr>
          </a:p>
        </p:txBody>
      </p:sp>
      <p:cxnSp>
        <p:nvCxnSpPr>
          <p:cNvPr id="13" name="Google Shape;116;p15">
            <a:extLst>
              <a:ext uri="{FF2B5EF4-FFF2-40B4-BE49-F238E27FC236}">
                <a16:creationId xmlns:a16="http://schemas.microsoft.com/office/drawing/2014/main" id="{61F9D070-DFBF-2BCD-A5C8-C0140E41A0B0}"/>
              </a:ext>
            </a:extLst>
          </p:cNvPr>
          <p:cNvCxnSpPr>
            <a:cxnSpLocks/>
          </p:cNvCxnSpPr>
          <p:nvPr/>
        </p:nvCxnSpPr>
        <p:spPr>
          <a:xfrm>
            <a:off x="505536" y="1071380"/>
            <a:ext cx="11213713" cy="0"/>
          </a:xfrm>
          <a:prstGeom prst="straightConnector1">
            <a:avLst/>
          </a:prstGeom>
          <a:noFill/>
          <a:ln w="9525" cap="flat" cmpd="sng">
            <a:solidFill>
              <a:srgbClr val="38664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FC551B6-7820-DBFB-0EBB-D227436D6586}"/>
              </a:ext>
            </a:extLst>
          </p:cNvPr>
          <p:cNvSpPr txBox="1"/>
          <p:nvPr/>
        </p:nvSpPr>
        <p:spPr>
          <a:xfrm>
            <a:off x="329691" y="1605534"/>
            <a:ext cx="5018442" cy="313932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ja-JP" altLang="en-US" dirty="0">
                <a:latin typeface="Söhne"/>
              </a:rPr>
              <a:t>方法</a:t>
            </a:r>
            <a:endParaRPr lang="en-ID" altLang="ja-JP" dirty="0">
              <a:latin typeface="Söhne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ja-JP" altLang="en-US" dirty="0">
                <a:latin typeface="Söhne"/>
              </a:rPr>
              <a:t>シミュリンクと「</a:t>
            </a:r>
            <a:r>
              <a:rPr lang="en-US" altLang="ja-JP" dirty="0">
                <a:latin typeface="Söhne"/>
              </a:rPr>
              <a:t>S</a:t>
            </a:r>
            <a:r>
              <a:rPr lang="ja-JP" altLang="en-US" dirty="0">
                <a:latin typeface="Söhne"/>
              </a:rPr>
              <a:t>ーファンクション」を用いて、</a:t>
            </a:r>
            <a:r>
              <a:rPr lang="en-US" altLang="ja-JP" dirty="0">
                <a:latin typeface="Söhne"/>
              </a:rPr>
              <a:t>C</a:t>
            </a:r>
            <a:r>
              <a:rPr lang="ja-JP" altLang="en-US" dirty="0">
                <a:latin typeface="Söhne"/>
              </a:rPr>
              <a:t>言語でプログラミングされた</a:t>
            </a:r>
            <a:r>
              <a:rPr lang="en-US" altLang="ja-JP" dirty="0">
                <a:latin typeface="Söhne"/>
              </a:rPr>
              <a:t>MEX</a:t>
            </a:r>
            <a:r>
              <a:rPr lang="ja-JP" altLang="en-US" dirty="0">
                <a:latin typeface="Söhne"/>
              </a:rPr>
              <a:t>ファイルを通じてシミュレーションを行った。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ja-JP" dirty="0">
                <a:latin typeface="Söhne"/>
              </a:rPr>
              <a:t>PMSM</a:t>
            </a:r>
            <a:r>
              <a:rPr lang="ja-JP" altLang="en-US" dirty="0">
                <a:latin typeface="Söhne"/>
              </a:rPr>
              <a:t>、制御器、推定器、</a:t>
            </a:r>
            <a:r>
              <a:rPr lang="en-US" altLang="ja-JP" dirty="0">
                <a:latin typeface="Söhne"/>
              </a:rPr>
              <a:t>GPLL</a:t>
            </a:r>
            <a:r>
              <a:rPr lang="ja-JP" altLang="en-US" dirty="0">
                <a:latin typeface="Söhne"/>
              </a:rPr>
              <a:t>などのシステムを</a:t>
            </a:r>
            <a:r>
              <a:rPr lang="en-US" altLang="ja-JP" dirty="0">
                <a:latin typeface="Söhne"/>
              </a:rPr>
              <a:t>C</a:t>
            </a:r>
            <a:r>
              <a:rPr lang="ja-JP" altLang="en-US" dirty="0">
                <a:latin typeface="Söhne"/>
              </a:rPr>
              <a:t>言語でプログラミングし、</a:t>
            </a:r>
            <a:r>
              <a:rPr lang="en-US" altLang="ja-JP" dirty="0">
                <a:latin typeface="Söhne"/>
              </a:rPr>
              <a:t>MEX</a:t>
            </a:r>
            <a:r>
              <a:rPr lang="ja-JP" altLang="en-US" dirty="0">
                <a:latin typeface="Söhne"/>
              </a:rPr>
              <a:t>ファイルにコンパイルした。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ja-JP" altLang="en-US" dirty="0">
                <a:latin typeface="Söhne"/>
              </a:rPr>
              <a:t>センサレス制御およびセンサーを使用した制御の性能評価をシミュレーションプロセスを通じて実施した。</a:t>
            </a:r>
            <a:endParaRPr lang="en-ID" altLang="ja-JP" dirty="0">
              <a:latin typeface="Söhne"/>
              <a:ea typeface="游ゴシック"/>
            </a:endParaRPr>
          </a:p>
        </p:txBody>
      </p:sp>
      <p:sp>
        <p:nvSpPr>
          <p:cNvPr id="24" name="object 5">
            <a:extLst>
              <a:ext uri="{FF2B5EF4-FFF2-40B4-BE49-F238E27FC236}">
                <a16:creationId xmlns:a16="http://schemas.microsoft.com/office/drawing/2014/main" id="{0AAFD33D-4D4B-4050-8831-2AB1D2FE2CA1}"/>
              </a:ext>
            </a:extLst>
          </p:cNvPr>
          <p:cNvSpPr/>
          <p:nvPr/>
        </p:nvSpPr>
        <p:spPr>
          <a:xfrm>
            <a:off x="0" y="6582398"/>
            <a:ext cx="12192000" cy="734084"/>
          </a:xfrm>
          <a:custGeom>
            <a:avLst/>
            <a:gdLst/>
            <a:ahLst/>
            <a:cxnLst/>
            <a:rect l="l" t="t" r="r" b="b"/>
            <a:pathLst>
              <a:path w="18288000" h="1252854">
                <a:moveTo>
                  <a:pt x="18287999" y="1252478"/>
                </a:moveTo>
                <a:lnTo>
                  <a:pt x="0" y="1252478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1252478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Google Shape;109;p15">
            <a:extLst>
              <a:ext uri="{FF2B5EF4-FFF2-40B4-BE49-F238E27FC236}">
                <a16:creationId xmlns:a16="http://schemas.microsoft.com/office/drawing/2014/main" id="{9050098F-4BFB-4619-BD66-EFCCE4185104}"/>
              </a:ext>
            </a:extLst>
          </p:cNvPr>
          <p:cNvSpPr/>
          <p:nvPr/>
        </p:nvSpPr>
        <p:spPr>
          <a:xfrm>
            <a:off x="4800901" y="1273"/>
            <a:ext cx="4225235" cy="477417"/>
          </a:xfrm>
          <a:prstGeom prst="trapezoid">
            <a:avLst>
              <a:gd name="adj" fmla="val 69449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109;p15">
            <a:extLst>
              <a:ext uri="{FF2B5EF4-FFF2-40B4-BE49-F238E27FC236}">
                <a16:creationId xmlns:a16="http://schemas.microsoft.com/office/drawing/2014/main" id="{8C252675-07C0-468D-A56B-D8E9762424AD}"/>
              </a:ext>
            </a:extLst>
          </p:cNvPr>
          <p:cNvSpPr/>
          <p:nvPr/>
        </p:nvSpPr>
        <p:spPr>
          <a:xfrm>
            <a:off x="7195921" y="0"/>
            <a:ext cx="4225235" cy="477417"/>
          </a:xfrm>
          <a:prstGeom prst="trapezoid">
            <a:avLst>
              <a:gd name="adj" fmla="val 69449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10;p15">
            <a:extLst>
              <a:ext uri="{FF2B5EF4-FFF2-40B4-BE49-F238E27FC236}">
                <a16:creationId xmlns:a16="http://schemas.microsoft.com/office/drawing/2014/main" id="{FADC7D14-EA1B-46DE-8D0F-457AE6DE41FB}"/>
              </a:ext>
            </a:extLst>
          </p:cNvPr>
          <p:cNvSpPr/>
          <p:nvPr/>
        </p:nvSpPr>
        <p:spPr>
          <a:xfrm>
            <a:off x="9590939" y="0"/>
            <a:ext cx="3927566" cy="477417"/>
          </a:xfrm>
          <a:prstGeom prst="trapezoid">
            <a:avLst>
              <a:gd name="adj" fmla="val 69449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C74595-8538-4BE2-ADC1-8412C01A2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5670" y="1399252"/>
            <a:ext cx="2695445" cy="14076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3E5BFD-14B4-49E2-A5AE-B9BD43AB39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9066" y="1577319"/>
            <a:ext cx="3111406" cy="11931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DAE51D-EB20-43BB-9F95-512BF618AC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2647" y="3141861"/>
            <a:ext cx="3006602" cy="2255439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6EF4026B-A5F4-4347-B336-9CCCC7018BDB}"/>
              </a:ext>
            </a:extLst>
          </p:cNvPr>
          <p:cNvSpPr txBox="1"/>
          <p:nvPr/>
        </p:nvSpPr>
        <p:spPr>
          <a:xfrm>
            <a:off x="9423889" y="2869040"/>
            <a:ext cx="13910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atin typeface="+mj-ea"/>
                <a:ea typeface="+mj-ea"/>
              </a:rPr>
              <a:t>GPLL</a:t>
            </a:r>
            <a:r>
              <a:rPr lang="ja-JP" altLang="en-US" sz="1200" dirty="0">
                <a:latin typeface="+mj-ea"/>
                <a:ea typeface="+mj-ea"/>
              </a:rPr>
              <a:t>システム</a:t>
            </a:r>
            <a:endParaRPr lang="en-ID" altLang="ja-JP" sz="1200" dirty="0">
              <a:latin typeface="+mj-ea"/>
              <a:ea typeface="+mj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AEA856-2151-4982-AB35-62E7F0B1A18B}"/>
              </a:ext>
            </a:extLst>
          </p:cNvPr>
          <p:cNvSpPr txBox="1"/>
          <p:nvPr/>
        </p:nvSpPr>
        <p:spPr>
          <a:xfrm>
            <a:off x="6096000" y="2869040"/>
            <a:ext cx="20465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atin typeface="+mj-ea"/>
                <a:ea typeface="+mj-ea"/>
              </a:rPr>
              <a:t>PMSM</a:t>
            </a:r>
            <a:r>
              <a:rPr lang="ja-JP" altLang="en-US" sz="1200" dirty="0"/>
              <a:t>センサレス制御</a:t>
            </a:r>
            <a:endParaRPr lang="en-ID" altLang="ja-JP" sz="1200" dirty="0">
              <a:latin typeface="+mj-ea"/>
              <a:ea typeface="+mj-ea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DA33E1F-BE10-4914-A936-B027A81217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3270" y="3243503"/>
            <a:ext cx="2914116" cy="2166813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5991D4A0-4D93-47D6-BFB3-23DE603C4200}"/>
              </a:ext>
            </a:extLst>
          </p:cNvPr>
          <p:cNvSpPr txBox="1"/>
          <p:nvPr/>
        </p:nvSpPr>
        <p:spPr>
          <a:xfrm>
            <a:off x="9590939" y="5491654"/>
            <a:ext cx="12976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200" dirty="0"/>
              <a:t>センサレス制御</a:t>
            </a:r>
            <a:endParaRPr lang="en-ID" altLang="ja-JP" sz="1200" dirty="0">
              <a:latin typeface="+mj-ea"/>
              <a:ea typeface="+mj-ea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391B084-A886-4F34-A940-D1C1B8597FAD}"/>
              </a:ext>
            </a:extLst>
          </p:cNvPr>
          <p:cNvSpPr txBox="1"/>
          <p:nvPr/>
        </p:nvSpPr>
        <p:spPr>
          <a:xfrm>
            <a:off x="6304570" y="5494763"/>
            <a:ext cx="12976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200" dirty="0"/>
              <a:t>標準制御</a:t>
            </a:r>
            <a:endParaRPr lang="en-ID" altLang="ja-JP" sz="12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07100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07;p15">
            <a:extLst>
              <a:ext uri="{FF2B5EF4-FFF2-40B4-BE49-F238E27FC236}">
                <a16:creationId xmlns:a16="http://schemas.microsoft.com/office/drawing/2014/main" id="{176550CD-B131-48E7-940D-3EB6BE391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913" y="533309"/>
            <a:ext cx="924597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ja-JP" sz="2800" b="1" dirty="0">
                <a:latin typeface="Montserrat" panose="02000505000000020004" pitchFamily="2" charset="0"/>
              </a:rPr>
              <a:t>【</a:t>
            </a:r>
            <a:r>
              <a:rPr lang="ja-JP" altLang="en-US" sz="2800" b="1" dirty="0">
                <a:latin typeface="Montserrat" panose="02000505000000020004" pitchFamily="2" charset="0"/>
              </a:rPr>
              <a:t>プロジェクト</a:t>
            </a:r>
            <a:r>
              <a:rPr lang="en-US" altLang="ja-JP" sz="2800" b="1" dirty="0">
                <a:latin typeface="Montserrat" panose="02000505000000020004" pitchFamily="2" charset="0"/>
              </a:rPr>
              <a:t>】</a:t>
            </a:r>
            <a:endParaRPr lang="ja-JP" altLang="en-US" sz="2800" dirty="0">
              <a:latin typeface="Montserrat" panose="02000505000000020004" pitchFamily="2" charset="0"/>
            </a:endParaRPr>
          </a:p>
        </p:txBody>
      </p:sp>
      <p:cxnSp>
        <p:nvCxnSpPr>
          <p:cNvPr id="13" name="Google Shape;116;p15">
            <a:extLst>
              <a:ext uri="{FF2B5EF4-FFF2-40B4-BE49-F238E27FC236}">
                <a16:creationId xmlns:a16="http://schemas.microsoft.com/office/drawing/2014/main" id="{61F9D070-DFBF-2BCD-A5C8-C0140E41A0B0}"/>
              </a:ext>
            </a:extLst>
          </p:cNvPr>
          <p:cNvCxnSpPr>
            <a:cxnSpLocks/>
          </p:cNvCxnSpPr>
          <p:nvPr/>
        </p:nvCxnSpPr>
        <p:spPr>
          <a:xfrm>
            <a:off x="505536" y="1071380"/>
            <a:ext cx="11213713" cy="0"/>
          </a:xfrm>
          <a:prstGeom prst="straightConnector1">
            <a:avLst/>
          </a:prstGeom>
          <a:noFill/>
          <a:ln w="9525" cap="flat" cmpd="sng">
            <a:solidFill>
              <a:srgbClr val="38664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4" name="object 5">
            <a:extLst>
              <a:ext uri="{FF2B5EF4-FFF2-40B4-BE49-F238E27FC236}">
                <a16:creationId xmlns:a16="http://schemas.microsoft.com/office/drawing/2014/main" id="{0AAFD33D-4D4B-4050-8831-2AB1D2FE2CA1}"/>
              </a:ext>
            </a:extLst>
          </p:cNvPr>
          <p:cNvSpPr/>
          <p:nvPr/>
        </p:nvSpPr>
        <p:spPr>
          <a:xfrm>
            <a:off x="0" y="6582398"/>
            <a:ext cx="12192000" cy="734084"/>
          </a:xfrm>
          <a:custGeom>
            <a:avLst/>
            <a:gdLst/>
            <a:ahLst/>
            <a:cxnLst/>
            <a:rect l="l" t="t" r="r" b="b"/>
            <a:pathLst>
              <a:path w="18288000" h="1252854">
                <a:moveTo>
                  <a:pt x="18287999" y="1252478"/>
                </a:moveTo>
                <a:lnTo>
                  <a:pt x="0" y="1252478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1252478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Google Shape;109;p15">
            <a:extLst>
              <a:ext uri="{FF2B5EF4-FFF2-40B4-BE49-F238E27FC236}">
                <a16:creationId xmlns:a16="http://schemas.microsoft.com/office/drawing/2014/main" id="{9050098F-4BFB-4619-BD66-EFCCE4185104}"/>
              </a:ext>
            </a:extLst>
          </p:cNvPr>
          <p:cNvSpPr/>
          <p:nvPr/>
        </p:nvSpPr>
        <p:spPr>
          <a:xfrm>
            <a:off x="4800901" y="1273"/>
            <a:ext cx="4225235" cy="477417"/>
          </a:xfrm>
          <a:prstGeom prst="trapezoid">
            <a:avLst>
              <a:gd name="adj" fmla="val 69449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109;p15">
            <a:extLst>
              <a:ext uri="{FF2B5EF4-FFF2-40B4-BE49-F238E27FC236}">
                <a16:creationId xmlns:a16="http://schemas.microsoft.com/office/drawing/2014/main" id="{8C252675-07C0-468D-A56B-D8E9762424AD}"/>
              </a:ext>
            </a:extLst>
          </p:cNvPr>
          <p:cNvSpPr/>
          <p:nvPr/>
        </p:nvSpPr>
        <p:spPr>
          <a:xfrm>
            <a:off x="7195921" y="0"/>
            <a:ext cx="4225235" cy="477417"/>
          </a:xfrm>
          <a:prstGeom prst="trapezoid">
            <a:avLst>
              <a:gd name="adj" fmla="val 69449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10;p15">
            <a:extLst>
              <a:ext uri="{FF2B5EF4-FFF2-40B4-BE49-F238E27FC236}">
                <a16:creationId xmlns:a16="http://schemas.microsoft.com/office/drawing/2014/main" id="{FADC7D14-EA1B-46DE-8D0F-457AE6DE41FB}"/>
              </a:ext>
            </a:extLst>
          </p:cNvPr>
          <p:cNvSpPr/>
          <p:nvPr/>
        </p:nvSpPr>
        <p:spPr>
          <a:xfrm>
            <a:off x="9590939" y="0"/>
            <a:ext cx="3927566" cy="477417"/>
          </a:xfrm>
          <a:prstGeom prst="trapezoid">
            <a:avLst>
              <a:gd name="adj" fmla="val 69449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93EA57-79CB-4D4B-8A2C-16EDC4DD5BB2}"/>
              </a:ext>
            </a:extLst>
          </p:cNvPr>
          <p:cNvSpPr txBox="1"/>
          <p:nvPr/>
        </p:nvSpPr>
        <p:spPr>
          <a:xfrm>
            <a:off x="435893" y="1353822"/>
            <a:ext cx="6760028" cy="175432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ja-JP" altLang="en-US" dirty="0">
                <a:latin typeface="Söhne"/>
                <a:ea typeface="游ゴシック"/>
              </a:rPr>
              <a:t>⒋　</a:t>
            </a:r>
            <a:r>
              <a:rPr lang="ja-JP" altLang="en-US" dirty="0"/>
              <a:t>結果（標準制御）ー１</a:t>
            </a:r>
            <a:endParaRPr lang="en-ID" altLang="ja-JP" dirty="0">
              <a:latin typeface="Söhne"/>
              <a:ea typeface="游ゴシック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ja-JP" dirty="0">
                <a:latin typeface="Yu Gothic (body)"/>
              </a:rPr>
              <a:t>PMSM</a:t>
            </a:r>
            <a:r>
              <a:rPr lang="ja-JP" altLang="en-US" dirty="0">
                <a:latin typeface="Söhne"/>
              </a:rPr>
              <a:t>制御は成功し、特定の時刻での急な負荷に対応できた。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ja-JP" dirty="0">
                <a:latin typeface="Yu Gothic (body)"/>
              </a:rPr>
              <a:t>GPLL</a:t>
            </a:r>
            <a:r>
              <a:rPr lang="ja-JP" altLang="en-US" dirty="0">
                <a:latin typeface="Söhne"/>
              </a:rPr>
              <a:t>は速度と角度を推定できたが、起動時にノイズがあり低速での改善が必要。定常状態での推定誤差もわずかに存在した。</a:t>
            </a:r>
            <a:endParaRPr lang="en-ID" altLang="ja-JP" dirty="0">
              <a:latin typeface="Söhne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142CCD-E86C-4397-A217-DF88F45E5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9504" y="1230351"/>
            <a:ext cx="3991997" cy="22995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88E871-2BDA-4278-AE3C-CFA9971D67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9505" y="3599633"/>
            <a:ext cx="3991997" cy="229955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177E1A0-369B-4899-9A9F-488DDA7BB6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2963" y="3340091"/>
            <a:ext cx="3600859" cy="2677446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250C3FD-DFF3-42D8-BA82-1A10FF20CD8F}"/>
              </a:ext>
            </a:extLst>
          </p:cNvPr>
          <p:cNvCxnSpPr>
            <a:cxnSpLocks/>
          </p:cNvCxnSpPr>
          <p:nvPr/>
        </p:nvCxnSpPr>
        <p:spPr>
          <a:xfrm flipH="1">
            <a:off x="6711043" y="1611086"/>
            <a:ext cx="1273628" cy="17996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E93840C-ABC6-4B83-8F38-47E1F681DCAA}"/>
              </a:ext>
            </a:extLst>
          </p:cNvPr>
          <p:cNvSpPr txBox="1"/>
          <p:nvPr/>
        </p:nvSpPr>
        <p:spPr>
          <a:xfrm>
            <a:off x="5943600" y="3414967"/>
            <a:ext cx="1436914" cy="27699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ja-JP" altLang="en-US" sz="1200" dirty="0"/>
              <a:t>モーターの実速度</a:t>
            </a:r>
            <a:endParaRPr lang="en-US" sz="1200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CB784D0-22FE-44B1-A1EA-DC3CF419678E}"/>
              </a:ext>
            </a:extLst>
          </p:cNvPr>
          <p:cNvCxnSpPr>
            <a:cxnSpLocks/>
            <a:endCxn id="29" idx="2"/>
          </p:cNvCxnSpPr>
          <p:nvPr/>
        </p:nvCxnSpPr>
        <p:spPr>
          <a:xfrm flipH="1" flipV="1">
            <a:off x="6662057" y="3691966"/>
            <a:ext cx="1230086" cy="6024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7194ED0-9623-46F7-98A4-21D2316E191B}"/>
              </a:ext>
            </a:extLst>
          </p:cNvPr>
          <p:cNvSpPr txBox="1"/>
          <p:nvPr/>
        </p:nvSpPr>
        <p:spPr>
          <a:xfrm>
            <a:off x="5285014" y="4401815"/>
            <a:ext cx="1861457" cy="27699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atin typeface="Yu Gothic (body)"/>
              </a:rPr>
              <a:t>GPLL</a:t>
            </a:r>
            <a:r>
              <a:rPr lang="ja-JP" altLang="en-US" sz="1200" dirty="0">
                <a:latin typeface="Yu Gothic (body)"/>
              </a:rPr>
              <a:t>による推定速度</a:t>
            </a:r>
            <a:endParaRPr lang="en-US" sz="1200" dirty="0">
              <a:latin typeface="Yu Gothic (body)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CDFFF23-5E3B-4C00-BBDC-5F56AFBCFBBB}"/>
              </a:ext>
            </a:extLst>
          </p:cNvPr>
          <p:cNvCxnSpPr>
            <a:cxnSpLocks/>
            <a:endCxn id="31" idx="3"/>
          </p:cNvCxnSpPr>
          <p:nvPr/>
        </p:nvCxnSpPr>
        <p:spPr>
          <a:xfrm flipH="1">
            <a:off x="7146471" y="4401815"/>
            <a:ext cx="745672" cy="138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1208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07;p15">
            <a:extLst>
              <a:ext uri="{FF2B5EF4-FFF2-40B4-BE49-F238E27FC236}">
                <a16:creationId xmlns:a16="http://schemas.microsoft.com/office/drawing/2014/main" id="{176550CD-B131-48E7-940D-3EB6BE391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913" y="533309"/>
            <a:ext cx="924597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ja-JP" sz="2800" b="1" dirty="0">
                <a:latin typeface="Montserrat" panose="02000505000000020004" pitchFamily="2" charset="0"/>
              </a:rPr>
              <a:t>【</a:t>
            </a:r>
            <a:r>
              <a:rPr lang="ja-JP" altLang="en-US" sz="2800" b="1" dirty="0">
                <a:latin typeface="Montserrat" panose="02000505000000020004" pitchFamily="2" charset="0"/>
              </a:rPr>
              <a:t>プロジェクト</a:t>
            </a:r>
            <a:r>
              <a:rPr lang="en-US" altLang="ja-JP" sz="2800" b="1" dirty="0">
                <a:latin typeface="Montserrat" panose="02000505000000020004" pitchFamily="2" charset="0"/>
              </a:rPr>
              <a:t>】</a:t>
            </a:r>
            <a:endParaRPr lang="ja-JP" altLang="en-US" sz="2800" dirty="0">
              <a:latin typeface="Montserrat" panose="02000505000000020004" pitchFamily="2" charset="0"/>
            </a:endParaRPr>
          </a:p>
        </p:txBody>
      </p:sp>
      <p:cxnSp>
        <p:nvCxnSpPr>
          <p:cNvPr id="13" name="Google Shape;116;p15">
            <a:extLst>
              <a:ext uri="{FF2B5EF4-FFF2-40B4-BE49-F238E27FC236}">
                <a16:creationId xmlns:a16="http://schemas.microsoft.com/office/drawing/2014/main" id="{61F9D070-DFBF-2BCD-A5C8-C0140E41A0B0}"/>
              </a:ext>
            </a:extLst>
          </p:cNvPr>
          <p:cNvCxnSpPr>
            <a:cxnSpLocks/>
          </p:cNvCxnSpPr>
          <p:nvPr/>
        </p:nvCxnSpPr>
        <p:spPr>
          <a:xfrm>
            <a:off x="505536" y="1071380"/>
            <a:ext cx="11213713" cy="0"/>
          </a:xfrm>
          <a:prstGeom prst="straightConnector1">
            <a:avLst/>
          </a:prstGeom>
          <a:noFill/>
          <a:ln w="9525" cap="flat" cmpd="sng">
            <a:solidFill>
              <a:srgbClr val="38664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4" name="object 5">
            <a:extLst>
              <a:ext uri="{FF2B5EF4-FFF2-40B4-BE49-F238E27FC236}">
                <a16:creationId xmlns:a16="http://schemas.microsoft.com/office/drawing/2014/main" id="{0AAFD33D-4D4B-4050-8831-2AB1D2FE2CA1}"/>
              </a:ext>
            </a:extLst>
          </p:cNvPr>
          <p:cNvSpPr/>
          <p:nvPr/>
        </p:nvSpPr>
        <p:spPr>
          <a:xfrm>
            <a:off x="0" y="6582398"/>
            <a:ext cx="12192000" cy="734084"/>
          </a:xfrm>
          <a:custGeom>
            <a:avLst/>
            <a:gdLst/>
            <a:ahLst/>
            <a:cxnLst/>
            <a:rect l="l" t="t" r="r" b="b"/>
            <a:pathLst>
              <a:path w="18288000" h="1252854">
                <a:moveTo>
                  <a:pt x="18287999" y="1252478"/>
                </a:moveTo>
                <a:lnTo>
                  <a:pt x="0" y="1252478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1252478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Google Shape;109;p15">
            <a:extLst>
              <a:ext uri="{FF2B5EF4-FFF2-40B4-BE49-F238E27FC236}">
                <a16:creationId xmlns:a16="http://schemas.microsoft.com/office/drawing/2014/main" id="{9050098F-4BFB-4619-BD66-EFCCE4185104}"/>
              </a:ext>
            </a:extLst>
          </p:cNvPr>
          <p:cNvSpPr/>
          <p:nvPr/>
        </p:nvSpPr>
        <p:spPr>
          <a:xfrm>
            <a:off x="4800901" y="1273"/>
            <a:ext cx="4225235" cy="477417"/>
          </a:xfrm>
          <a:prstGeom prst="trapezoid">
            <a:avLst>
              <a:gd name="adj" fmla="val 69449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109;p15">
            <a:extLst>
              <a:ext uri="{FF2B5EF4-FFF2-40B4-BE49-F238E27FC236}">
                <a16:creationId xmlns:a16="http://schemas.microsoft.com/office/drawing/2014/main" id="{8C252675-07C0-468D-A56B-D8E9762424AD}"/>
              </a:ext>
            </a:extLst>
          </p:cNvPr>
          <p:cNvSpPr/>
          <p:nvPr/>
        </p:nvSpPr>
        <p:spPr>
          <a:xfrm>
            <a:off x="7195921" y="0"/>
            <a:ext cx="4225235" cy="477417"/>
          </a:xfrm>
          <a:prstGeom prst="trapezoid">
            <a:avLst>
              <a:gd name="adj" fmla="val 69449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10;p15">
            <a:extLst>
              <a:ext uri="{FF2B5EF4-FFF2-40B4-BE49-F238E27FC236}">
                <a16:creationId xmlns:a16="http://schemas.microsoft.com/office/drawing/2014/main" id="{FADC7D14-EA1B-46DE-8D0F-457AE6DE41FB}"/>
              </a:ext>
            </a:extLst>
          </p:cNvPr>
          <p:cNvSpPr/>
          <p:nvPr/>
        </p:nvSpPr>
        <p:spPr>
          <a:xfrm>
            <a:off x="9590939" y="0"/>
            <a:ext cx="3927566" cy="477417"/>
          </a:xfrm>
          <a:prstGeom prst="trapezoid">
            <a:avLst>
              <a:gd name="adj" fmla="val 69449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93EA57-79CB-4D4B-8A2C-16EDC4DD5BB2}"/>
              </a:ext>
            </a:extLst>
          </p:cNvPr>
          <p:cNvSpPr txBox="1"/>
          <p:nvPr/>
        </p:nvSpPr>
        <p:spPr>
          <a:xfrm>
            <a:off x="435893" y="1353822"/>
            <a:ext cx="6760028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ja-JP" altLang="en-US" dirty="0">
                <a:latin typeface="Söhne"/>
                <a:ea typeface="游ゴシック"/>
              </a:rPr>
              <a:t>⒋　</a:t>
            </a:r>
            <a:r>
              <a:rPr lang="ja-JP" altLang="en-US" dirty="0"/>
              <a:t>結果（センサレス制御）ー２</a:t>
            </a:r>
            <a:endParaRPr lang="en-ID" altLang="ja-JP" dirty="0">
              <a:latin typeface="Söhne"/>
              <a:ea typeface="游ゴシック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ja-JP" dirty="0">
                <a:latin typeface="Yu Gothic (body)"/>
                <a:ea typeface="游ゴシック"/>
              </a:rPr>
              <a:t>PMSM</a:t>
            </a:r>
            <a:r>
              <a:rPr lang="ja-JP" altLang="en-US" dirty="0">
                <a:latin typeface="Yu Gothic (body)"/>
                <a:ea typeface="游ゴシック"/>
              </a:rPr>
              <a:t>制御は失敗し、ユーザーの望む出力になるよう制御器の修正が必要。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ja-JP" dirty="0">
                <a:latin typeface="Yu Gothic (body)"/>
                <a:ea typeface="游ゴシック"/>
              </a:rPr>
              <a:t>GPLL</a:t>
            </a:r>
            <a:r>
              <a:rPr lang="ja-JP" altLang="en-US" dirty="0">
                <a:latin typeface="Yu Gothic (body)"/>
                <a:ea typeface="游ゴシック"/>
              </a:rPr>
              <a:t>は実速度と角度を推定できたが、誤差があり、推定は成功してもモーター制御は失敗し修正が必要。</a:t>
            </a:r>
            <a:endParaRPr lang="en-ID" altLang="ja-JP" dirty="0">
              <a:latin typeface="Yu Gothic (body)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20FB3D-9128-43D8-8D9A-15B8C86A1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8322" y="1219200"/>
            <a:ext cx="4270822" cy="24601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BB06CC-6AC7-433C-9E9B-D2C3DC2A28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8322" y="3839892"/>
            <a:ext cx="4270822" cy="2460172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DA6A44A-D83A-4A9D-AC6D-2185D07412C5}"/>
              </a:ext>
            </a:extLst>
          </p:cNvPr>
          <p:cNvCxnSpPr>
            <a:cxnSpLocks/>
          </p:cNvCxnSpPr>
          <p:nvPr/>
        </p:nvCxnSpPr>
        <p:spPr>
          <a:xfrm flipH="1">
            <a:off x="6711043" y="1611086"/>
            <a:ext cx="1273628" cy="17996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FFF3E4E-D655-496D-848F-737B6EA32F00}"/>
              </a:ext>
            </a:extLst>
          </p:cNvPr>
          <p:cNvSpPr txBox="1"/>
          <p:nvPr/>
        </p:nvSpPr>
        <p:spPr>
          <a:xfrm>
            <a:off x="5943600" y="3414967"/>
            <a:ext cx="1436914" cy="27699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ja-JP" altLang="en-US" sz="1200" dirty="0"/>
              <a:t>モーターの実速度</a:t>
            </a:r>
            <a:endParaRPr lang="en-US" sz="12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62E0D30-4A4F-4505-8089-A3FC7846C17A}"/>
              </a:ext>
            </a:extLst>
          </p:cNvPr>
          <p:cNvCxnSpPr>
            <a:cxnSpLocks/>
            <a:endCxn id="15" idx="2"/>
          </p:cNvCxnSpPr>
          <p:nvPr/>
        </p:nvCxnSpPr>
        <p:spPr>
          <a:xfrm flipH="1" flipV="1">
            <a:off x="6662057" y="3691966"/>
            <a:ext cx="1230086" cy="6024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25A2601-4189-41A9-B281-D67F2AB9106E}"/>
              </a:ext>
            </a:extLst>
          </p:cNvPr>
          <p:cNvSpPr txBox="1"/>
          <p:nvPr/>
        </p:nvSpPr>
        <p:spPr>
          <a:xfrm>
            <a:off x="5285014" y="4401815"/>
            <a:ext cx="1861457" cy="27699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atin typeface="Yu Gothic (body)"/>
              </a:rPr>
              <a:t>GPLL</a:t>
            </a:r>
            <a:r>
              <a:rPr lang="ja-JP" altLang="en-US" sz="1200" dirty="0">
                <a:latin typeface="Yu Gothic (body)"/>
              </a:rPr>
              <a:t>による推定速度</a:t>
            </a:r>
            <a:endParaRPr lang="en-US" sz="1200" dirty="0">
              <a:latin typeface="Yu Gothic (body)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9A410C7-5C0B-45D7-BA03-DD15617F4646}"/>
              </a:ext>
            </a:extLst>
          </p:cNvPr>
          <p:cNvCxnSpPr>
            <a:cxnSpLocks/>
            <a:endCxn id="17" idx="3"/>
          </p:cNvCxnSpPr>
          <p:nvPr/>
        </p:nvCxnSpPr>
        <p:spPr>
          <a:xfrm flipH="1">
            <a:off x="7146471" y="4401815"/>
            <a:ext cx="745672" cy="138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C72D8991-A90C-4C1E-BCDB-A789353F11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4543" y="3339699"/>
            <a:ext cx="3499136" cy="2624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024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07;p15">
            <a:extLst>
              <a:ext uri="{FF2B5EF4-FFF2-40B4-BE49-F238E27FC236}">
                <a16:creationId xmlns:a16="http://schemas.microsoft.com/office/drawing/2014/main" id="{176550CD-B131-48E7-940D-3EB6BE391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913" y="533309"/>
            <a:ext cx="924597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ja-JP" sz="2800" b="1" dirty="0">
                <a:latin typeface="Montserrat" panose="02000505000000020004" pitchFamily="2" charset="0"/>
              </a:rPr>
              <a:t>【</a:t>
            </a:r>
            <a:r>
              <a:rPr lang="ja-JP" altLang="en-US" sz="2800" b="1" dirty="0">
                <a:latin typeface="Montserrat" panose="02000505000000020004" pitchFamily="2" charset="0"/>
              </a:rPr>
              <a:t>プロジェクト</a:t>
            </a:r>
            <a:r>
              <a:rPr lang="en-US" altLang="ja-JP" sz="2800" b="1" dirty="0">
                <a:latin typeface="Montserrat" panose="02000505000000020004" pitchFamily="2" charset="0"/>
              </a:rPr>
              <a:t>】</a:t>
            </a:r>
            <a:endParaRPr lang="ja-JP" altLang="en-US" sz="2800" dirty="0">
              <a:latin typeface="Montserrat" panose="02000505000000020004" pitchFamily="2" charset="0"/>
            </a:endParaRPr>
          </a:p>
        </p:txBody>
      </p:sp>
      <p:cxnSp>
        <p:nvCxnSpPr>
          <p:cNvPr id="13" name="Google Shape;116;p15">
            <a:extLst>
              <a:ext uri="{FF2B5EF4-FFF2-40B4-BE49-F238E27FC236}">
                <a16:creationId xmlns:a16="http://schemas.microsoft.com/office/drawing/2014/main" id="{61F9D070-DFBF-2BCD-A5C8-C0140E41A0B0}"/>
              </a:ext>
            </a:extLst>
          </p:cNvPr>
          <p:cNvCxnSpPr>
            <a:cxnSpLocks/>
          </p:cNvCxnSpPr>
          <p:nvPr/>
        </p:nvCxnSpPr>
        <p:spPr>
          <a:xfrm>
            <a:off x="505536" y="1071380"/>
            <a:ext cx="11213713" cy="0"/>
          </a:xfrm>
          <a:prstGeom prst="straightConnector1">
            <a:avLst/>
          </a:prstGeom>
          <a:noFill/>
          <a:ln w="9525" cap="flat" cmpd="sng">
            <a:solidFill>
              <a:srgbClr val="38664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FC551B6-7820-DBFB-0EBB-D227436D6586}"/>
              </a:ext>
            </a:extLst>
          </p:cNvPr>
          <p:cNvSpPr txBox="1"/>
          <p:nvPr/>
        </p:nvSpPr>
        <p:spPr>
          <a:xfrm>
            <a:off x="505536" y="1313916"/>
            <a:ext cx="4414807" cy="203132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ja-JP" dirty="0">
                <a:latin typeface="Söhne"/>
                <a:ea typeface="游ゴシック"/>
              </a:rPr>
              <a:t>5</a:t>
            </a:r>
            <a:r>
              <a:rPr lang="ja-JP" altLang="en-US" dirty="0">
                <a:latin typeface="Söhne"/>
                <a:ea typeface="游ゴシック"/>
              </a:rPr>
              <a:t>．反省点</a:t>
            </a:r>
            <a:endParaRPr lang="en-ID" altLang="ja-JP" dirty="0">
              <a:latin typeface="Söhne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ja-JP" dirty="0">
                <a:latin typeface="Yu Gothic (body)"/>
              </a:rPr>
              <a:t>GPLL</a:t>
            </a:r>
            <a:r>
              <a:rPr lang="ja-JP" altLang="en-US" dirty="0">
                <a:latin typeface="Yu Gothic (body)"/>
              </a:rPr>
              <a:t>は速度と角度を推定できたが、起動時の推定精度向上の余地がある。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ja-JP" altLang="en-US" dirty="0">
                <a:latin typeface="Yu Gothic (body)"/>
              </a:rPr>
              <a:t>センサレス制御によるモーター制御はまだ失敗しており、特に電流制御器の修正が必要と思われる。</a:t>
            </a:r>
            <a:endParaRPr lang="en-ID" altLang="ja-JP" dirty="0">
              <a:latin typeface="Yu Gothic (body)"/>
              <a:ea typeface="游ゴシック"/>
            </a:endParaRPr>
          </a:p>
        </p:txBody>
      </p:sp>
      <p:sp>
        <p:nvSpPr>
          <p:cNvPr id="24" name="object 5">
            <a:extLst>
              <a:ext uri="{FF2B5EF4-FFF2-40B4-BE49-F238E27FC236}">
                <a16:creationId xmlns:a16="http://schemas.microsoft.com/office/drawing/2014/main" id="{0AAFD33D-4D4B-4050-8831-2AB1D2FE2CA1}"/>
              </a:ext>
            </a:extLst>
          </p:cNvPr>
          <p:cNvSpPr/>
          <p:nvPr/>
        </p:nvSpPr>
        <p:spPr>
          <a:xfrm>
            <a:off x="0" y="6582398"/>
            <a:ext cx="12192000" cy="734084"/>
          </a:xfrm>
          <a:custGeom>
            <a:avLst/>
            <a:gdLst/>
            <a:ahLst/>
            <a:cxnLst/>
            <a:rect l="l" t="t" r="r" b="b"/>
            <a:pathLst>
              <a:path w="18288000" h="1252854">
                <a:moveTo>
                  <a:pt x="18287999" y="1252478"/>
                </a:moveTo>
                <a:lnTo>
                  <a:pt x="0" y="1252478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1252478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Google Shape;109;p15">
            <a:extLst>
              <a:ext uri="{FF2B5EF4-FFF2-40B4-BE49-F238E27FC236}">
                <a16:creationId xmlns:a16="http://schemas.microsoft.com/office/drawing/2014/main" id="{9050098F-4BFB-4619-BD66-EFCCE4185104}"/>
              </a:ext>
            </a:extLst>
          </p:cNvPr>
          <p:cNvSpPr/>
          <p:nvPr/>
        </p:nvSpPr>
        <p:spPr>
          <a:xfrm>
            <a:off x="4800901" y="1273"/>
            <a:ext cx="4225235" cy="477417"/>
          </a:xfrm>
          <a:prstGeom prst="trapezoid">
            <a:avLst>
              <a:gd name="adj" fmla="val 69449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109;p15">
            <a:extLst>
              <a:ext uri="{FF2B5EF4-FFF2-40B4-BE49-F238E27FC236}">
                <a16:creationId xmlns:a16="http://schemas.microsoft.com/office/drawing/2014/main" id="{8C252675-07C0-468D-A56B-D8E9762424AD}"/>
              </a:ext>
            </a:extLst>
          </p:cNvPr>
          <p:cNvSpPr/>
          <p:nvPr/>
        </p:nvSpPr>
        <p:spPr>
          <a:xfrm>
            <a:off x="7195921" y="0"/>
            <a:ext cx="4225235" cy="477417"/>
          </a:xfrm>
          <a:prstGeom prst="trapezoid">
            <a:avLst>
              <a:gd name="adj" fmla="val 69449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10;p15">
            <a:extLst>
              <a:ext uri="{FF2B5EF4-FFF2-40B4-BE49-F238E27FC236}">
                <a16:creationId xmlns:a16="http://schemas.microsoft.com/office/drawing/2014/main" id="{FADC7D14-EA1B-46DE-8D0F-457AE6DE41FB}"/>
              </a:ext>
            </a:extLst>
          </p:cNvPr>
          <p:cNvSpPr/>
          <p:nvPr/>
        </p:nvSpPr>
        <p:spPr>
          <a:xfrm>
            <a:off x="9590939" y="0"/>
            <a:ext cx="3927566" cy="477417"/>
          </a:xfrm>
          <a:prstGeom prst="trapezoid">
            <a:avLst>
              <a:gd name="adj" fmla="val 69449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7C24E0-D9A1-499A-BED1-8DEDA62D8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89" y="1313915"/>
            <a:ext cx="1111755" cy="37207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9BDEE1-96D2-4CAD-918D-E46E2752BC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945" y="1313915"/>
            <a:ext cx="5102304" cy="3720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617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71;p14">
            <a:extLst>
              <a:ext uri="{FF2B5EF4-FFF2-40B4-BE49-F238E27FC236}">
                <a16:creationId xmlns:a16="http://schemas.microsoft.com/office/drawing/2014/main" id="{0F3A3103-6804-AA9C-B95A-AD18E8877B1E}"/>
              </a:ext>
            </a:extLst>
          </p:cNvPr>
          <p:cNvSpPr/>
          <p:nvPr/>
        </p:nvSpPr>
        <p:spPr>
          <a:xfrm>
            <a:off x="3242212" y="6490392"/>
            <a:ext cx="7831988" cy="399900"/>
          </a:xfrm>
          <a:prstGeom prst="trapezoid">
            <a:avLst>
              <a:gd name="adj" fmla="val 6944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E8156C-6202-FEFB-A9AA-41C397F801FF}"/>
              </a:ext>
            </a:extLst>
          </p:cNvPr>
          <p:cNvSpPr txBox="1"/>
          <p:nvPr/>
        </p:nvSpPr>
        <p:spPr>
          <a:xfrm>
            <a:off x="1456287" y="2828835"/>
            <a:ext cx="94179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ja-JP" altLang="en-US" sz="7200" b="1" dirty="0">
                <a:latin typeface="+mj-ea"/>
                <a:ea typeface="+mj-ea"/>
              </a:rPr>
              <a:t>ありがとうございます</a:t>
            </a:r>
            <a:endParaRPr lang="id-ID" sz="7200" b="1" dirty="0">
              <a:latin typeface="+mj-ea"/>
              <a:ea typeface="+mj-ea"/>
            </a:endParaRPr>
          </a:p>
        </p:txBody>
      </p:sp>
      <p:sp>
        <p:nvSpPr>
          <p:cNvPr id="20" name="Google Shape;71;p14">
            <a:extLst>
              <a:ext uri="{FF2B5EF4-FFF2-40B4-BE49-F238E27FC236}">
                <a16:creationId xmlns:a16="http://schemas.microsoft.com/office/drawing/2014/main" id="{8BB249FE-4768-1C3C-E896-ABDD7E87A8A4}"/>
              </a:ext>
            </a:extLst>
          </p:cNvPr>
          <p:cNvSpPr/>
          <p:nvPr/>
        </p:nvSpPr>
        <p:spPr>
          <a:xfrm>
            <a:off x="-514782" y="6501623"/>
            <a:ext cx="7831988" cy="399900"/>
          </a:xfrm>
          <a:prstGeom prst="trapezoid">
            <a:avLst>
              <a:gd name="adj" fmla="val 69449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71;p14">
            <a:extLst>
              <a:ext uri="{FF2B5EF4-FFF2-40B4-BE49-F238E27FC236}">
                <a16:creationId xmlns:a16="http://schemas.microsoft.com/office/drawing/2014/main" id="{48DF2C42-BEF3-4444-951F-4EDBBCA49FAA}"/>
              </a:ext>
            </a:extLst>
          </p:cNvPr>
          <p:cNvSpPr/>
          <p:nvPr/>
        </p:nvSpPr>
        <p:spPr>
          <a:xfrm>
            <a:off x="4864938" y="0"/>
            <a:ext cx="7831988" cy="399900"/>
          </a:xfrm>
          <a:prstGeom prst="trapezoid">
            <a:avLst>
              <a:gd name="adj" fmla="val 6944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71;p14">
            <a:extLst>
              <a:ext uri="{FF2B5EF4-FFF2-40B4-BE49-F238E27FC236}">
                <a16:creationId xmlns:a16="http://schemas.microsoft.com/office/drawing/2014/main" id="{79FB775F-1A75-41BA-9194-079489FCD6EA}"/>
              </a:ext>
            </a:extLst>
          </p:cNvPr>
          <p:cNvSpPr/>
          <p:nvPr/>
        </p:nvSpPr>
        <p:spPr>
          <a:xfrm>
            <a:off x="1107944" y="11231"/>
            <a:ext cx="7831988" cy="399900"/>
          </a:xfrm>
          <a:prstGeom prst="trapezoid">
            <a:avLst>
              <a:gd name="adj" fmla="val 69449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7895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4188</TotalTime>
  <Words>1123</Words>
  <Application>Microsoft Office PowerPoint</Application>
  <PresentationFormat>Widescreen</PresentationFormat>
  <Paragraphs>76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8" baseType="lpstr">
      <vt:lpstr>Söhne</vt:lpstr>
      <vt:lpstr>Yu Gothic</vt:lpstr>
      <vt:lpstr>Yu Gothic (body)</vt:lpstr>
      <vt:lpstr>游ゴシック Light</vt:lpstr>
      <vt:lpstr>游ゴシック Light</vt:lpstr>
      <vt:lpstr>Arial</vt:lpstr>
      <vt:lpstr>Calibri</vt:lpstr>
      <vt:lpstr>Calibri Light</vt:lpstr>
      <vt:lpstr>Montserrat</vt:lpstr>
      <vt:lpstr>Roboto</vt:lpstr>
      <vt:lpstr>Office Theme</vt:lpstr>
      <vt:lpstr>Fadhli Ammar Taqiyuddin Hakim ファドリ・アッマル・タキユッヂん・ハキム</vt:lpstr>
      <vt:lpstr>【プロジェクト】</vt:lpstr>
      <vt:lpstr>【プロジェクト】</vt:lpstr>
      <vt:lpstr>【プロジェクト】</vt:lpstr>
      <vt:lpstr>【プロジェクト】</vt:lpstr>
      <vt:lpstr>【プロジェクト】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Prediksi dan Optimasi Sifat Mekanik Matriks Biokomposit-Biokomposit Berpenguat Serat Alami Menggunakan Machine Learning  Prediction and Optimization of Mechanical Properties of Natural Fiber Reinforced Biocomposite Matrix Using Machine Learning</dc:title>
  <dc:creator>Muhammad Rafi Endri</dc:creator>
  <cp:lastModifiedBy>Fadhli Ammar Taqiyuddin Hakim</cp:lastModifiedBy>
  <cp:revision>150</cp:revision>
  <dcterms:created xsi:type="dcterms:W3CDTF">2023-11-22T08:25:19Z</dcterms:created>
  <dcterms:modified xsi:type="dcterms:W3CDTF">2025-05-26T16:19:50Z</dcterms:modified>
</cp:coreProperties>
</file>